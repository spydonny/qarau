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Титул. Дать прочитать тезис, не комментировать.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Задать вопрос вслух и выдержать паузу. Следующий слайд отвечает одним словом.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Ответ на вопрос предыдущего слайда — одним словом, потом цифра.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профессиональные торговые команды, а не аналитики. Их продукт — алгоритм, поэтому вход у нас — качество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 «перегрузка порта → задержка поставок» проговорить устно.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 из 15 — честнее процента на такой выборке.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Риторический вопрос. Пауза. Ответ — следующий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Одна схема на слайд. Архитектуру backend не показывать.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Настоящий вывод MVP на живых данных.</a:t>
            </a:r>
          </a:p>
          <a:p/>
          <a:p>
            <a:r>
              <a:t>Слева: Open-Meteo historical archive, суточные осадки у порта Роттердам, 1 097 записей за 3 года, с принудительной задержкой доступности 5 дней (защита от look-ahead).</a:t>
            </a:r>
          </a:p>
          <a:p/>
          <a:p>
            <a:r>
              <a:t>Справа: walk-forward валидация против EUR/USD (ECB), три out-of-sample окна.</a:t>
            </a:r>
          </a:p>
          <a:p>
            <a:r>
              <a:t>Фиолетовый — Роттердам: ΔR² = +0.32%, все три окна положительные, предупреждений нет, 56/100.</a:t>
            </a:r>
          </a:p>
          <a:p>
            <a:r>
              <a:t>Серый — Хьюстон: ΔR² = −0.52%, положительное одно окно из трёх, UNSTABLE_ACROSS_FOLDS, 43/100.</a:t>
            </a:r>
          </a:p>
          <a:p/>
          <a:p>
            <a:r>
              <a:t>Главное: один пайплайн одного кандидата принимает, другого отклоняет.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 к следующему слайду: раз мы продаём ограниченное право, его нужно чем-то удостоверять.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говорить «Solana потому что быстро и дёшево» — PostgreSQL тоже быстрый.</a:t>
            </a:r>
          </a:p>
          <a:p/>
          <a:p>
            <a:r>
              <a:t>Сильная формулировка: QARAU продаёт не данные, а ограниченное право доступа к потенциальному alpha-сигналу. Solana превращает это право в проверяемый digital entitlement.</a:t>
            </a:r>
          </a:p>
          <a:p/>
          <a:p>
            <a:r>
              <a:t>Если спросят детали: 1) limited seats — реальный on-chain access right, wallet либо владеет им, либо нет, backend проверяет entitlement перед выдачей API; 2) аукцион — часть протокола: bid → allocation → payment → access grant; 3) доказуемая история доступа: сколько мест, кому, когда истекли, какие платежи прошли. Сами данные и alpha всегда остаются off-chain и зашифрованы.</a:t>
            </a:r>
          </a:p>
          <a:p/>
          <a:p>
            <a:r>
              <a:t>Без Solana это обычный SaaS: база пользователей → Stripe → isSubscribed = true.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Kayrros и Ursa Space назвать устно — как потенциальных поставщиков данных и партнёров.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Без концентрических кругов и случайных процентов.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Короткая пауза перед командой и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История заканчивается здесь: команда и конкретный ask. Слайда Thank you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low-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502920"/>
            <a:ext cx="5852160" cy="5852160"/>
          </a:xfrm>
          <a:prstGeom prst="rect">
            <a:avLst/>
          </a:prstGeom>
        </p:spPr>
      </p:pic>
      <p:pic>
        <p:nvPicPr>
          <p:cNvPr id="3" name="Picture 2" descr="primary-lockup-on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783080"/>
            <a:ext cx="4206240" cy="668426"/>
          </a:xfrm>
          <a:prstGeom prst="rect">
            <a:avLst/>
          </a:prstGeom>
        </p:spPr>
      </p:pic>
      <p:sp>
        <p:nvSpPr>
          <p:cNvPr id="4" name="thesis"/>
          <p:cNvSpPr/>
          <p:nvPr/>
        </p:nvSpPr>
        <p:spPr>
          <a:xfrm>
            <a:off x="822960" y="2834640"/>
            <a:ext cx="6949440" cy="1737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112000"/>
              </a:lnSpc>
            </a:pPr>
            <a:r>
              <a:rPr sz="6000" b="1">
                <a:solidFill>
                  <a:srgbClr val="F2F2EE"/>
                </a:solidFill>
                <a:latin typeface="Arial"/>
                <a:ea typeface="Arial"/>
                <a:cs typeface="Arial"/>
              </a:rPr>
              <a:t>Alpha happens</a:t>
            </a:r>
          </a:p>
          <a:p>
            <a:pPr algn="l">
              <a:lnSpc>
                <a:spcPct val="112000"/>
              </a:lnSpc>
            </a:pPr>
            <a:r>
              <a:rPr sz="6000" b="1">
                <a:solidFill>
                  <a:srgbClr val="F2F2EE"/>
                </a:solidFill>
                <a:latin typeface="Arial"/>
                <a:ea typeface="Arial"/>
                <a:cs typeface="Arial"/>
              </a:rPr>
              <a:t>before the chart.</a:t>
            </a:r>
          </a:p>
        </p:txBody>
      </p:sp>
      <p:sp>
        <p:nvSpPr>
          <p:cNvPr id="5" name="accent"/>
          <p:cNvSpPr/>
          <p:nvPr/>
        </p:nvSpPr>
        <p:spPr>
          <a:xfrm>
            <a:off x="822960" y="4919472"/>
            <a:ext cx="1188720" cy="0"/>
          </a:xfrm>
          <a:prstGeom prst="line">
            <a:avLst/>
          </a:prstGeom>
          <a:noFill/>
          <a:ln w="38100">
            <a:solidFill>
              <a:srgbClr val="A9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ub"/>
          <p:cNvSpPr/>
          <p:nvPr/>
        </p:nvSpPr>
        <p:spPr>
          <a:xfrm>
            <a:off x="822960" y="5230368"/>
            <a:ext cx="658368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132000"/>
              </a:lnSpc>
            </a:pPr>
            <a:r>
              <a:rPr sz="1900" b="1">
                <a:solidFill>
                  <a:srgbClr val="A5A5A2"/>
                </a:solidFill>
                <a:latin typeface="Arial"/>
                <a:ea typeface="Arial"/>
                <a:cs typeface="Arial"/>
              </a:rPr>
              <a:t>QARAU turns physical-world data into</a:t>
            </a:r>
          </a:p>
          <a:p>
            <a:pPr algn="l">
              <a:lnSpc>
                <a:spcPct val="132000"/>
              </a:lnSpc>
            </a:pPr>
            <a:r>
              <a:rPr sz="1900" b="1">
                <a:solidFill>
                  <a:srgbClr val="A5A5A2"/>
                </a:solidFill>
                <a:latin typeface="Arial"/>
                <a:ea typeface="Arial"/>
                <a:cs typeface="Arial"/>
              </a:rPr>
              <a:t>signals for quantitative trading.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822960" y="2834640"/>
            <a:ext cx="1188720" cy="0"/>
          </a:xfrm>
          <a:prstGeom prst="line">
            <a:avLst/>
          </a:prstGeom>
          <a:noFill/>
          <a:ln w="38100">
            <a:solidFill>
              <a:srgbClr val="A9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eat"/>
          <p:cNvSpPr/>
          <p:nvPr/>
        </p:nvSpPr>
        <p:spPr>
          <a:xfrm>
            <a:off x="822960" y="3218688"/>
            <a:ext cx="10515600" cy="11155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118000"/>
              </a:lnSpc>
            </a:pPr>
            <a:r>
              <a:rPr sz="6200" b="1">
                <a:solidFill>
                  <a:srgbClr val="F2F2EE"/>
                </a:solidFill>
                <a:latin typeface="Arial"/>
                <a:ea typeface="Arial"/>
                <a:cs typeface="Arial"/>
              </a:rPr>
              <a:t>Есть ли спрос?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onogram-on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1944" y="658368"/>
            <a:ext cx="384048" cy="402336"/>
          </a:xfrm>
          <a:prstGeom prst="rect">
            <a:avLst/>
          </a:prstGeom>
        </p:spPr>
      </p:pic>
      <p:sp>
        <p:nvSpPr>
          <p:cNvPr id="3" name="eyebrow"/>
          <p:cNvSpPr/>
          <p:nvPr/>
        </p:nvSpPr>
        <p:spPr>
          <a:xfrm>
            <a:off x="822960" y="749808"/>
            <a:ext cx="365760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1100" b="1" spc="190">
                <a:solidFill>
                  <a:srgbClr val="6E6E6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title"/>
          <p:cNvSpPr/>
          <p:nvPr/>
        </p:nvSpPr>
        <p:spPr>
          <a:xfrm>
            <a:off x="822960" y="1115568"/>
            <a:ext cx="10241280" cy="960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7400" b="1">
                <a:solidFill>
                  <a:srgbClr val="F2F2EE"/>
                </a:solidFill>
                <a:latin typeface="Arial"/>
                <a:ea typeface="Arial"/>
                <a:cs typeface="Arial"/>
              </a:rPr>
              <a:t>Да</a:t>
            </a:r>
          </a:p>
        </p:txBody>
      </p:sp>
      <p:sp>
        <p:nvSpPr>
          <p:cNvPr id="5" name="accent"/>
          <p:cNvSpPr/>
          <p:nvPr/>
        </p:nvSpPr>
        <p:spPr>
          <a:xfrm>
            <a:off x="822960" y="2359152"/>
            <a:ext cx="1188720" cy="0"/>
          </a:xfrm>
          <a:prstGeom prst="line">
            <a:avLst/>
          </a:prstGeom>
          <a:noFill/>
          <a:ln w="38100">
            <a:solidFill>
              <a:srgbClr val="A9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metric"/>
          <p:cNvSpPr/>
          <p:nvPr/>
        </p:nvSpPr>
        <p:spPr>
          <a:xfrm>
            <a:off x="822960" y="2889504"/>
            <a:ext cx="6766560" cy="1737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8600" b="1">
                <a:solidFill>
                  <a:srgbClr val="F2F2EE"/>
                </a:solidFill>
                <a:latin typeface="Arial"/>
                <a:ea typeface="Arial"/>
                <a:cs typeface="Arial"/>
              </a:rPr>
              <a:t>$2.8 млрд</a:t>
            </a:r>
          </a:p>
        </p:txBody>
      </p:sp>
      <p:sp>
        <p:nvSpPr>
          <p:cNvPr id="7" name="cap"/>
          <p:cNvSpPr/>
          <p:nvPr/>
        </p:nvSpPr>
        <p:spPr>
          <a:xfrm>
            <a:off x="822960" y="4443984"/>
            <a:ext cx="53949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1700" b="1">
                <a:solidFill>
                  <a:srgbClr val="A5A5A2"/>
                </a:solidFill>
                <a:latin typeface="Arial"/>
                <a:ea typeface="Arial"/>
                <a:cs typeface="Arial"/>
              </a:rPr>
              <a:t>Расходы фондов на alternative data, 2025</a:t>
            </a:r>
          </a:p>
        </p:txBody>
      </p:sp>
      <p:sp>
        <p:nvSpPr>
          <p:cNvPr id="8" name="delta"/>
          <p:cNvSpPr/>
          <p:nvPr/>
        </p:nvSpPr>
        <p:spPr>
          <a:xfrm>
            <a:off x="822960" y="4919472"/>
            <a:ext cx="38404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3000" b="1">
                <a:solidFill>
                  <a:srgbClr val="A96BFF"/>
                </a:solidFill>
                <a:latin typeface="Arial"/>
                <a:ea typeface="Arial"/>
                <a:cs typeface="Arial"/>
              </a:rPr>
              <a:t>+17% за год</a:t>
            </a:r>
          </a:p>
        </p:txBody>
      </p:sp>
      <p:sp>
        <p:nvSpPr>
          <p:cNvPr id="9" name="meaning"/>
          <p:cNvSpPr/>
          <p:nvPr/>
        </p:nvSpPr>
        <p:spPr>
          <a:xfrm>
            <a:off x="6492240" y="3035808"/>
            <a:ext cx="4663440" cy="2194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132000"/>
              </a:lnSpc>
            </a:pPr>
            <a:r>
              <a:rPr sz="2700" b="1">
                <a:solidFill>
                  <a:srgbClr val="F2F2EE"/>
                </a:solidFill>
                <a:latin typeface="Arial"/>
                <a:ea typeface="Arial"/>
                <a:cs typeface="Arial"/>
              </a:rPr>
              <a:t>Уникальные данные показывают изменения раньше рынка.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onogram-on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1944" y="658368"/>
            <a:ext cx="384048" cy="402336"/>
          </a:xfrm>
          <a:prstGeom prst="rect">
            <a:avLst/>
          </a:prstGeom>
        </p:spPr>
      </p:pic>
      <p:sp>
        <p:nvSpPr>
          <p:cNvPr id="3" name="eyebrow"/>
          <p:cNvSpPr/>
          <p:nvPr/>
        </p:nvSpPr>
        <p:spPr>
          <a:xfrm>
            <a:off x="822960" y="749808"/>
            <a:ext cx="365760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1100" b="1" spc="190">
                <a:solidFill>
                  <a:srgbClr val="6E6E6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title"/>
          <p:cNvSpPr/>
          <p:nvPr/>
        </p:nvSpPr>
        <p:spPr>
          <a:xfrm>
            <a:off x="822960" y="1115568"/>
            <a:ext cx="10241280" cy="960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7400" b="1">
                <a:solidFill>
                  <a:srgbClr val="F2F2EE"/>
                </a:solidFill>
                <a:latin typeface="Arial"/>
                <a:ea typeface="Arial"/>
                <a:cs typeface="Arial"/>
              </a:rPr>
              <a:t>Кто платит</a:t>
            </a:r>
          </a:p>
        </p:txBody>
      </p:sp>
      <p:sp>
        <p:nvSpPr>
          <p:cNvPr id="5" name="accent"/>
          <p:cNvSpPr/>
          <p:nvPr/>
        </p:nvSpPr>
        <p:spPr>
          <a:xfrm>
            <a:off x="822960" y="2359152"/>
            <a:ext cx="1188720" cy="0"/>
          </a:xfrm>
          <a:prstGeom prst="line">
            <a:avLst/>
          </a:prstGeom>
          <a:noFill/>
          <a:ln w="38100">
            <a:solidFill>
              <a:srgbClr val="A9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who"/>
          <p:cNvSpPr/>
          <p:nvPr/>
        </p:nvSpPr>
        <p:spPr>
          <a:xfrm>
            <a:off x="822960" y="2761488"/>
            <a:ext cx="5074920" cy="1828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134000"/>
              </a:lnSpc>
            </a:pPr>
            <a:r>
              <a:rPr sz="2700" b="1">
                <a:solidFill>
                  <a:srgbClr val="F2F2EE"/>
                </a:solidFill>
                <a:latin typeface="Arial"/>
                <a:ea typeface="Arial"/>
                <a:cs typeface="Arial"/>
              </a:rPr>
              <a:t>Quant-фонды и систематические трейдеры.</a:t>
            </a:r>
          </a:p>
          <a:p>
            <a:pPr algn="l">
              <a:lnSpc>
                <a:spcPct val="134000"/>
              </a:lnSpc>
            </a:pPr>
            <a:r>
              <a:rPr sz="2700" b="1">
                <a:solidFill>
                  <a:srgbClr val="F2F2EE"/>
                </a:solidFill>
                <a:latin typeface="Arial"/>
                <a:ea typeface="Arial"/>
                <a:cs typeface="Arial"/>
              </a:rPr>
              <a:t>Решение принимает алгоритм, не человек.</a:t>
            </a:r>
          </a:p>
        </p:txBody>
      </p:sp>
      <p:sp>
        <p:nvSpPr>
          <p:cNvPr id="7" name="f1"/>
          <p:cNvSpPr/>
          <p:nvPr/>
        </p:nvSpPr>
        <p:spPr>
          <a:xfrm>
            <a:off x="7068312" y="3675887"/>
            <a:ext cx="1591970" cy="0"/>
          </a:xfrm>
          <a:prstGeom prst="line">
            <a:avLst/>
          </a:prstGeom>
          <a:noFill/>
          <a:ln w="19050">
            <a:solidFill>
              <a:srgbClr val="2424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1-head"/>
          <p:cNvSpPr/>
          <p:nvPr/>
        </p:nvSpPr>
        <p:spPr>
          <a:xfrm rot="5400000">
            <a:off x="8655253" y="3625595"/>
            <a:ext cx="100584" cy="100584"/>
          </a:xfrm>
          <a:prstGeom prst="triangle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2"/>
          <p:cNvSpPr/>
          <p:nvPr/>
        </p:nvSpPr>
        <p:spPr>
          <a:xfrm>
            <a:off x="9079992" y="3675887"/>
            <a:ext cx="1683410" cy="0"/>
          </a:xfrm>
          <a:prstGeom prst="line">
            <a:avLst/>
          </a:prstGeom>
          <a:noFill/>
          <a:ln w="19050">
            <a:solidFill>
              <a:srgbClr val="2424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2-head"/>
          <p:cNvSpPr/>
          <p:nvPr/>
        </p:nvSpPr>
        <p:spPr>
          <a:xfrm rot="5400000">
            <a:off x="10758373" y="3625595"/>
            <a:ext cx="100584" cy="100584"/>
          </a:xfrm>
          <a:prstGeom prst="triangle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0"/>
          <p:cNvSpPr/>
          <p:nvPr/>
        </p:nvSpPr>
        <p:spPr>
          <a:xfrm>
            <a:off x="6816852" y="3589019"/>
            <a:ext cx="173736" cy="173736"/>
          </a:xfrm>
          <a:prstGeom prst="ellipse">
            <a:avLst/>
          </a:prstGeom>
          <a:solidFill>
            <a:srgbClr val="F2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1"/>
          <p:cNvSpPr/>
          <p:nvPr/>
        </p:nvSpPr>
        <p:spPr>
          <a:xfrm>
            <a:off x="8828532" y="3589019"/>
            <a:ext cx="173736" cy="173736"/>
          </a:xfrm>
          <a:prstGeom prst="ellipse">
            <a:avLst/>
          </a:prstGeom>
          <a:solidFill>
            <a:srgbClr val="F2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2"/>
          <p:cNvSpPr/>
          <p:nvPr/>
        </p:nvSpPr>
        <p:spPr>
          <a:xfrm>
            <a:off x="10899648" y="3557015"/>
            <a:ext cx="237744" cy="237744"/>
          </a:xfrm>
          <a:prstGeom prst="ellipse">
            <a:avLst/>
          </a:prstGeom>
          <a:solidFill>
            <a:srgbClr val="A9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la"/>
          <p:cNvSpPr/>
          <p:nvPr/>
        </p:nvSpPr>
        <p:spPr>
          <a:xfrm>
            <a:off x="5760720" y="4059935"/>
            <a:ext cx="228600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600" b="1">
                <a:solidFill>
                  <a:srgbClr val="F2F2EE"/>
                </a:solidFill>
                <a:latin typeface="Arial"/>
                <a:ea typeface="Arial"/>
                <a:cs typeface="Arial"/>
              </a:rPr>
              <a:t>ДАННЫЕ</a:t>
            </a:r>
          </a:p>
        </p:txBody>
      </p:sp>
      <p:sp>
        <p:nvSpPr>
          <p:cNvPr id="15" name="flb"/>
          <p:cNvSpPr/>
          <p:nvPr/>
        </p:nvSpPr>
        <p:spPr>
          <a:xfrm>
            <a:off x="7772400" y="4059935"/>
            <a:ext cx="228600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600" b="1">
                <a:solidFill>
                  <a:srgbClr val="F2F2EE"/>
                </a:solidFill>
                <a:latin typeface="Arial"/>
                <a:ea typeface="Arial"/>
                <a:cs typeface="Arial"/>
              </a:rPr>
              <a:t>АЛГОРИТМ</a:t>
            </a:r>
          </a:p>
        </p:txBody>
      </p:sp>
      <p:sp>
        <p:nvSpPr>
          <p:cNvPr id="16" name="flc"/>
          <p:cNvSpPr/>
          <p:nvPr/>
        </p:nvSpPr>
        <p:spPr>
          <a:xfrm>
            <a:off x="9875520" y="4059935"/>
            <a:ext cx="228600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600" b="1">
                <a:solidFill>
                  <a:srgbClr val="A96BFF"/>
                </a:solidFill>
                <a:latin typeface="Arial"/>
                <a:ea typeface="Arial"/>
                <a:cs typeface="Arial"/>
              </a:rPr>
              <a:t>СДЕЛКА</a:t>
            </a:r>
          </a:p>
        </p:txBody>
      </p:sp>
      <p:sp>
        <p:nvSpPr>
          <p:cNvPr id="17" name="flow-cap"/>
          <p:cNvSpPr/>
          <p:nvPr/>
        </p:nvSpPr>
        <p:spPr>
          <a:xfrm>
            <a:off x="6492240" y="2889503"/>
            <a:ext cx="4873752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1100" b="1" spc="190">
                <a:solidFill>
                  <a:srgbClr val="6E6E6E"/>
                </a:solidFill>
                <a:latin typeface="Arial"/>
                <a:ea typeface="Arial"/>
                <a:cs typeface="Arial"/>
              </a:rPr>
              <a:t>КАК ОНИ РАБОТАЮТ</a:t>
            </a:r>
          </a:p>
        </p:txBody>
      </p:sp>
      <p:sp>
        <p:nvSpPr>
          <p:cNvPr id="18" name="foot"/>
          <p:cNvSpPr/>
          <p:nvPr/>
        </p:nvSpPr>
        <p:spPr>
          <a:xfrm>
            <a:off x="822960" y="6053328"/>
            <a:ext cx="1042416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1900" b="1">
                <a:solidFill>
                  <a:srgbClr val="A5A5A2"/>
                </a:solidFill>
                <a:latin typeface="Arial"/>
                <a:ea typeface="Arial"/>
                <a:cs typeface="Arial"/>
              </a:rPr>
              <a:t>Они покупают не данные, а повторяемое преимущество.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onogram-on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1944" y="658368"/>
            <a:ext cx="384048" cy="402336"/>
          </a:xfrm>
          <a:prstGeom prst="rect">
            <a:avLst/>
          </a:prstGeom>
        </p:spPr>
      </p:pic>
      <p:sp>
        <p:nvSpPr>
          <p:cNvPr id="3" name="eyebrow"/>
          <p:cNvSpPr/>
          <p:nvPr/>
        </p:nvSpPr>
        <p:spPr>
          <a:xfrm>
            <a:off x="822960" y="749808"/>
            <a:ext cx="365760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1100" b="1" spc="190">
                <a:solidFill>
                  <a:srgbClr val="6E6E6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title"/>
          <p:cNvSpPr/>
          <p:nvPr/>
        </p:nvSpPr>
        <p:spPr>
          <a:xfrm>
            <a:off x="822960" y="1115568"/>
            <a:ext cx="10241280" cy="960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7400" b="1">
                <a:solidFill>
                  <a:srgbClr val="F2F2EE"/>
                </a:solidFill>
                <a:latin typeface="Arial"/>
                <a:ea typeface="Arial"/>
                <a:cs typeface="Arial"/>
              </a:rPr>
              <a:t>Физический мир</a:t>
            </a:r>
          </a:p>
        </p:txBody>
      </p:sp>
      <p:sp>
        <p:nvSpPr>
          <p:cNvPr id="5" name="accent"/>
          <p:cNvSpPr/>
          <p:nvPr/>
        </p:nvSpPr>
        <p:spPr>
          <a:xfrm>
            <a:off x="822960" y="2359152"/>
            <a:ext cx="1188720" cy="0"/>
          </a:xfrm>
          <a:prstGeom prst="line">
            <a:avLst/>
          </a:prstGeom>
          <a:noFill/>
          <a:ln w="38100">
            <a:solidFill>
              <a:srgbClr val="A9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l-eyebrow"/>
          <p:cNvSpPr/>
          <p:nvPr/>
        </p:nvSpPr>
        <p:spPr>
          <a:xfrm>
            <a:off x="822960" y="2761488"/>
            <a:ext cx="475488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1100" b="1" spc="190">
                <a:solidFill>
                  <a:srgbClr val="6E6E6E"/>
                </a:solidFill>
                <a:latin typeface="Arial"/>
                <a:ea typeface="Arial"/>
                <a:cs typeface="Arial"/>
              </a:rPr>
              <a:t>ТРАДИЦИОННЫЕ ДАННЫЕ</a:t>
            </a:r>
          </a:p>
        </p:txBody>
      </p:sp>
      <p:sp>
        <p:nvSpPr>
          <p:cNvPr id="7" name="l-list"/>
          <p:cNvSpPr/>
          <p:nvPr/>
        </p:nvSpPr>
        <p:spPr>
          <a:xfrm>
            <a:off x="822960" y="3255264"/>
            <a:ext cx="4754880" cy="2011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146000"/>
              </a:lnSpc>
            </a:pPr>
            <a:r>
              <a:rPr sz="2700" b="1">
                <a:solidFill>
                  <a:srgbClr val="8A8A8A"/>
                </a:solidFill>
                <a:latin typeface="Arial"/>
                <a:ea typeface="Arial"/>
                <a:cs typeface="Arial"/>
              </a:rPr>
              <a:t>Цены</a:t>
            </a:r>
          </a:p>
          <a:p>
            <a:pPr algn="l">
              <a:lnSpc>
                <a:spcPct val="146000"/>
              </a:lnSpc>
            </a:pPr>
            <a:r>
              <a:rPr sz="2700" b="1">
                <a:solidFill>
                  <a:srgbClr val="8A8A8A"/>
                </a:solidFill>
                <a:latin typeface="Arial"/>
                <a:ea typeface="Arial"/>
                <a:cs typeface="Arial"/>
              </a:rPr>
              <a:t>Отчётность</a:t>
            </a:r>
          </a:p>
          <a:p>
            <a:pPr algn="l">
              <a:lnSpc>
                <a:spcPct val="146000"/>
              </a:lnSpc>
            </a:pPr>
            <a:r>
              <a:rPr sz="2700" b="1">
                <a:solidFill>
                  <a:srgbClr val="8A8A8A"/>
                </a:solidFill>
                <a:latin typeface="Arial"/>
                <a:ea typeface="Arial"/>
                <a:cs typeface="Arial"/>
              </a:rPr>
              <a:t>Новости</a:t>
            </a:r>
          </a:p>
        </p:txBody>
      </p:sp>
      <p:sp>
        <p:nvSpPr>
          <p:cNvPr id="8" name="l-verdict"/>
          <p:cNvSpPr/>
          <p:nvPr/>
        </p:nvSpPr>
        <p:spPr>
          <a:xfrm>
            <a:off x="822960" y="5230368"/>
            <a:ext cx="47548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1700" b="1">
                <a:solidFill>
                  <a:srgbClr val="6E6E6E"/>
                </a:solidFill>
                <a:latin typeface="Arial"/>
                <a:ea typeface="Arial"/>
                <a:cs typeface="Arial"/>
              </a:rPr>
              <a:t>Есть у всех</a:t>
            </a:r>
          </a:p>
        </p:txBody>
      </p:sp>
      <p:sp>
        <p:nvSpPr>
          <p:cNvPr id="9" name="r-eyebrow"/>
          <p:cNvSpPr/>
          <p:nvPr/>
        </p:nvSpPr>
        <p:spPr>
          <a:xfrm>
            <a:off x="6492240" y="2761488"/>
            <a:ext cx="4873752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1100" b="1" spc="190">
                <a:solidFill>
                  <a:srgbClr val="A96BFF"/>
                </a:solidFill>
                <a:latin typeface="Arial"/>
                <a:ea typeface="Arial"/>
                <a:cs typeface="Arial"/>
              </a:rPr>
              <a:t>ФИЗИЧЕСКИЕ ДАННЫЕ</a:t>
            </a:r>
          </a:p>
        </p:txBody>
      </p:sp>
      <p:sp>
        <p:nvSpPr>
          <p:cNvPr id="10" name="r-list"/>
          <p:cNvSpPr/>
          <p:nvPr/>
        </p:nvSpPr>
        <p:spPr>
          <a:xfrm>
            <a:off x="6492240" y="3255264"/>
            <a:ext cx="4873752" cy="2011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146000"/>
              </a:lnSpc>
            </a:pPr>
            <a:r>
              <a:rPr sz="2700" b="1">
                <a:solidFill>
                  <a:srgbClr val="F2F2EE"/>
                </a:solidFill>
                <a:latin typeface="Arial"/>
                <a:ea typeface="Arial"/>
                <a:cs typeface="Arial"/>
              </a:rPr>
              <a:t>Движение судов</a:t>
            </a:r>
          </a:p>
          <a:p>
            <a:pPr algn="l">
              <a:lnSpc>
                <a:spcPct val="146000"/>
              </a:lnSpc>
            </a:pPr>
            <a:r>
              <a:rPr sz="2700" b="1">
                <a:solidFill>
                  <a:srgbClr val="F2F2EE"/>
                </a:solidFill>
                <a:latin typeface="Arial"/>
                <a:ea typeface="Arial"/>
                <a:cs typeface="Arial"/>
              </a:rPr>
              <a:t>Работа заводов</a:t>
            </a:r>
          </a:p>
          <a:p>
            <a:pPr algn="l">
              <a:lnSpc>
                <a:spcPct val="146000"/>
              </a:lnSpc>
            </a:pPr>
            <a:r>
              <a:rPr sz="2700" b="1">
                <a:solidFill>
                  <a:srgbClr val="F2F2EE"/>
                </a:solidFill>
                <a:latin typeface="Arial"/>
                <a:ea typeface="Arial"/>
                <a:cs typeface="Arial"/>
              </a:rPr>
              <a:t>Энергопотребление</a:t>
            </a:r>
          </a:p>
        </p:txBody>
      </p:sp>
      <p:sp>
        <p:nvSpPr>
          <p:cNvPr id="11" name="r-verdict"/>
          <p:cNvSpPr/>
          <p:nvPr/>
        </p:nvSpPr>
        <p:spPr>
          <a:xfrm>
            <a:off x="6492240" y="5230368"/>
            <a:ext cx="4873752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1700" b="1">
                <a:solidFill>
                  <a:srgbClr val="A96BFF"/>
                </a:solidFill>
                <a:latin typeface="Arial"/>
                <a:ea typeface="Arial"/>
                <a:cs typeface="Arial"/>
              </a:rPr>
              <a:t>Почти никем не освоены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onogram-on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1944" y="658368"/>
            <a:ext cx="384048" cy="402336"/>
          </a:xfrm>
          <a:prstGeom prst="rect">
            <a:avLst/>
          </a:prstGeom>
        </p:spPr>
      </p:pic>
      <p:sp>
        <p:nvSpPr>
          <p:cNvPr id="3" name="eyebrow"/>
          <p:cNvSpPr/>
          <p:nvPr/>
        </p:nvSpPr>
        <p:spPr>
          <a:xfrm>
            <a:off x="822960" y="749808"/>
            <a:ext cx="365760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1100" b="1" spc="190">
                <a:solidFill>
                  <a:srgbClr val="6E6E6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title"/>
          <p:cNvSpPr/>
          <p:nvPr/>
        </p:nvSpPr>
        <p:spPr>
          <a:xfrm>
            <a:off x="822960" y="1115568"/>
            <a:ext cx="10241280" cy="960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7400" b="1">
                <a:solidFill>
                  <a:srgbClr val="F2F2EE"/>
                </a:solidFill>
                <a:latin typeface="Arial"/>
                <a:ea typeface="Arial"/>
                <a:cs typeface="Arial"/>
              </a:rPr>
              <a:t>Данные ≠ сигнал</a:t>
            </a:r>
          </a:p>
        </p:txBody>
      </p:sp>
      <p:sp>
        <p:nvSpPr>
          <p:cNvPr id="5" name="accent"/>
          <p:cNvSpPr/>
          <p:nvPr/>
        </p:nvSpPr>
        <p:spPr>
          <a:xfrm>
            <a:off x="822960" y="2359152"/>
            <a:ext cx="1188720" cy="0"/>
          </a:xfrm>
          <a:prstGeom prst="line">
            <a:avLst/>
          </a:prstGeom>
          <a:noFill/>
          <a:ln w="38100">
            <a:solidFill>
              <a:srgbClr val="A9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noise"/>
          <p:cNvSpPr/>
          <p:nvPr/>
        </p:nvSpPr>
        <p:spPr>
          <a:xfrm>
            <a:off x="822960" y="3072384"/>
            <a:ext cx="4937760" cy="2194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130000"/>
              </a:lnSpc>
            </a:pPr>
            <a:r>
              <a:rPr sz="3400" b="1">
                <a:solidFill>
                  <a:srgbClr val="F2F2EE"/>
                </a:solidFill>
                <a:latin typeface="Arial"/>
                <a:ea typeface="Arial"/>
                <a:cs typeface="Arial"/>
              </a:rPr>
              <a:t>Шум. Смещения.</a:t>
            </a:r>
          </a:p>
          <a:p>
            <a:pPr algn="l">
              <a:lnSpc>
                <a:spcPct val="130000"/>
              </a:lnSpc>
            </a:pPr>
            <a:r>
              <a:rPr sz="3400" b="1">
                <a:solidFill>
                  <a:srgbClr val="F2F2EE"/>
                </a:solidFill>
                <a:latin typeface="Arial"/>
                <a:ea typeface="Arial"/>
                <a:cs typeface="Arial"/>
              </a:rPr>
              <a:t>Смена режима.</a:t>
            </a:r>
          </a:p>
        </p:txBody>
      </p:sp>
      <p:sp>
        <p:nvSpPr>
          <p:cNvPr id="7" name="noise-sub"/>
          <p:cNvSpPr/>
          <p:nvPr/>
        </p:nvSpPr>
        <p:spPr>
          <a:xfrm>
            <a:off x="822960" y="4901183"/>
            <a:ext cx="493776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A5A5A2"/>
                </a:solidFill>
                <a:latin typeface="Arial"/>
                <a:ea typeface="Arial"/>
                <a:cs typeface="Arial"/>
              </a:rPr>
              <a:t>Физический ряд ещё не значит, что связь удержится.</a:t>
            </a:r>
          </a:p>
        </p:txBody>
      </p:sp>
      <p:pic>
        <p:nvPicPr>
          <p:cNvPr id="8" name="Picture 7" descr="glow-r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9168" y="2395728"/>
            <a:ext cx="3749039" cy="3749039"/>
          </a:xfrm>
          <a:prstGeom prst="rect">
            <a:avLst/>
          </a:prstGeom>
        </p:spPr>
      </p:pic>
      <p:sp>
        <p:nvSpPr>
          <p:cNvPr id="9" name="stat"/>
          <p:cNvSpPr/>
          <p:nvPr/>
        </p:nvSpPr>
        <p:spPr>
          <a:xfrm>
            <a:off x="7059168" y="3456432"/>
            <a:ext cx="3749039" cy="11887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8200" b="1">
                <a:solidFill>
                  <a:srgbClr val="F2F2EE"/>
                </a:solidFill>
                <a:latin typeface="Arial"/>
                <a:ea typeface="Arial"/>
                <a:cs typeface="Arial"/>
              </a:rPr>
              <a:t>11/15</a:t>
            </a:r>
          </a:p>
        </p:txBody>
      </p:sp>
      <p:sp>
        <p:nvSpPr>
          <p:cNvPr id="10" name="stat-cap"/>
          <p:cNvSpPr/>
          <p:nvPr/>
        </p:nvSpPr>
        <p:spPr>
          <a:xfrm>
            <a:off x="6492240" y="6217920"/>
            <a:ext cx="4873752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250" b="1">
                <a:solidFill>
                  <a:srgbClr val="6E6E6E"/>
                </a:solidFill>
                <a:latin typeface="Arial"/>
                <a:ea typeface="Arial"/>
                <a:cs typeface="Arial"/>
              </a:rPr>
              <a:t>quant-исследователей назвали устойчивость сигнала главной проблемой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822960" y="2834640"/>
            <a:ext cx="1188720" cy="0"/>
          </a:xfrm>
          <a:prstGeom prst="line">
            <a:avLst/>
          </a:prstGeom>
          <a:noFill/>
          <a:ln w="38100">
            <a:solidFill>
              <a:srgbClr val="A9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eat"/>
          <p:cNvSpPr/>
          <p:nvPr/>
        </p:nvSpPr>
        <p:spPr>
          <a:xfrm>
            <a:off x="822960" y="3218688"/>
            <a:ext cx="10515600" cy="195681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118000"/>
              </a:lnSpc>
            </a:pPr>
            <a:r>
              <a:rPr sz="4600" b="1">
                <a:solidFill>
                  <a:srgbClr val="F2F2EE"/>
                </a:solidFill>
                <a:latin typeface="Arial"/>
                <a:ea typeface="Arial"/>
                <a:cs typeface="Arial"/>
              </a:rPr>
              <a:t>Кто проверяет сигнал, прежде чем</a:t>
            </a:r>
          </a:p>
          <a:p>
            <a:pPr algn="l">
              <a:lnSpc>
                <a:spcPct val="118000"/>
              </a:lnSpc>
            </a:pPr>
            <a:r>
              <a:rPr sz="4600" b="1">
                <a:solidFill>
                  <a:srgbClr val="F2F2EE"/>
                </a:solidFill>
                <a:latin typeface="Arial"/>
                <a:ea typeface="Arial"/>
                <a:cs typeface="Arial"/>
              </a:rPr>
              <a:t>на него поставят деньги?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onogram-on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1944" y="658368"/>
            <a:ext cx="384048" cy="402336"/>
          </a:xfrm>
          <a:prstGeom prst="rect">
            <a:avLst/>
          </a:prstGeom>
        </p:spPr>
      </p:pic>
      <p:sp>
        <p:nvSpPr>
          <p:cNvPr id="3" name="eyebrow"/>
          <p:cNvSpPr/>
          <p:nvPr/>
        </p:nvSpPr>
        <p:spPr>
          <a:xfrm>
            <a:off x="822960" y="749808"/>
            <a:ext cx="365760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1100" b="1" spc="190">
                <a:solidFill>
                  <a:srgbClr val="6E6E6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title"/>
          <p:cNvSpPr/>
          <p:nvPr/>
        </p:nvSpPr>
        <p:spPr>
          <a:xfrm>
            <a:off x="822960" y="1115568"/>
            <a:ext cx="10241280" cy="960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7400" b="1">
                <a:solidFill>
                  <a:srgbClr val="F2F2EE"/>
                </a:solidFill>
                <a:latin typeface="Arial"/>
                <a:ea typeface="Arial"/>
                <a:cs typeface="Arial"/>
              </a:rPr>
              <a:t>Что делает QARAU</a:t>
            </a:r>
          </a:p>
        </p:txBody>
      </p:sp>
      <p:sp>
        <p:nvSpPr>
          <p:cNvPr id="5" name="accent"/>
          <p:cNvSpPr/>
          <p:nvPr/>
        </p:nvSpPr>
        <p:spPr>
          <a:xfrm>
            <a:off x="822960" y="2359152"/>
            <a:ext cx="1188720" cy="0"/>
          </a:xfrm>
          <a:prstGeom prst="line">
            <a:avLst/>
          </a:prstGeom>
          <a:noFill/>
          <a:ln w="38100">
            <a:solidFill>
              <a:srgbClr val="A9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1"/>
          <p:cNvSpPr/>
          <p:nvPr/>
        </p:nvSpPr>
        <p:spPr>
          <a:xfrm>
            <a:off x="2075688" y="4315968"/>
            <a:ext cx="3603650" cy="0"/>
          </a:xfrm>
          <a:prstGeom prst="line">
            <a:avLst/>
          </a:prstGeom>
          <a:noFill/>
          <a:ln w="19050">
            <a:solidFill>
              <a:srgbClr val="2424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1-head"/>
          <p:cNvSpPr/>
          <p:nvPr/>
        </p:nvSpPr>
        <p:spPr>
          <a:xfrm rot="5400000">
            <a:off x="5674309" y="4265676"/>
            <a:ext cx="100584" cy="100584"/>
          </a:xfrm>
          <a:prstGeom prst="triangle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2"/>
          <p:cNvSpPr/>
          <p:nvPr/>
        </p:nvSpPr>
        <p:spPr>
          <a:xfrm>
            <a:off x="6428232" y="4315968"/>
            <a:ext cx="3768242" cy="0"/>
          </a:xfrm>
          <a:prstGeom prst="line">
            <a:avLst/>
          </a:prstGeom>
          <a:noFill/>
          <a:ln w="19050">
            <a:solidFill>
              <a:srgbClr val="A9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2-head"/>
          <p:cNvSpPr/>
          <p:nvPr/>
        </p:nvSpPr>
        <p:spPr>
          <a:xfrm rot="5400000">
            <a:off x="10191445" y="4265676"/>
            <a:ext cx="100584" cy="100584"/>
          </a:xfrm>
          <a:prstGeom prst="triangle">
            <a:avLst/>
          </a:prstGeom>
          <a:solidFill>
            <a:srgbClr val="A9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na"/>
          <p:cNvSpPr/>
          <p:nvPr/>
        </p:nvSpPr>
        <p:spPr>
          <a:xfrm>
            <a:off x="1787651" y="4229100"/>
            <a:ext cx="173736" cy="173736"/>
          </a:xfrm>
          <a:prstGeom prst="ellipse">
            <a:avLst/>
          </a:prstGeom>
          <a:solidFill>
            <a:srgbClr val="F2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nc"/>
          <p:cNvSpPr/>
          <p:nvPr/>
        </p:nvSpPr>
        <p:spPr>
          <a:xfrm>
            <a:off x="10474452" y="4229100"/>
            <a:ext cx="173736" cy="173736"/>
          </a:xfrm>
          <a:prstGeom prst="ellipse">
            <a:avLst/>
          </a:prstGeom>
          <a:solidFill>
            <a:srgbClr val="F2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nb-ring"/>
          <p:cNvSpPr/>
          <p:nvPr/>
        </p:nvSpPr>
        <p:spPr>
          <a:xfrm>
            <a:off x="5907024" y="4123944"/>
            <a:ext cx="384048" cy="384048"/>
          </a:xfrm>
          <a:prstGeom prst="ellipse">
            <a:avLst/>
          </a:prstGeom>
          <a:noFill/>
          <a:ln w="28575">
            <a:solidFill>
              <a:srgbClr val="A9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nb"/>
          <p:cNvSpPr/>
          <p:nvPr/>
        </p:nvSpPr>
        <p:spPr>
          <a:xfrm>
            <a:off x="6025896" y="4242816"/>
            <a:ext cx="146304" cy="146304"/>
          </a:xfrm>
          <a:prstGeom prst="ellipse">
            <a:avLst/>
          </a:prstGeom>
          <a:solidFill>
            <a:srgbClr val="A9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la"/>
          <p:cNvSpPr/>
          <p:nvPr/>
        </p:nvSpPr>
        <p:spPr>
          <a:xfrm>
            <a:off x="274319" y="3566160"/>
            <a:ext cx="320040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700" b="1">
                <a:solidFill>
                  <a:srgbClr val="F2F2EE"/>
                </a:solidFill>
                <a:latin typeface="Arial"/>
                <a:ea typeface="Arial"/>
                <a:cs typeface="Arial"/>
              </a:rPr>
              <a:t>ФИЗИЧЕСКИЙ МИР</a:t>
            </a:r>
          </a:p>
        </p:txBody>
      </p:sp>
      <p:sp>
        <p:nvSpPr>
          <p:cNvPr id="15" name="lc"/>
          <p:cNvSpPr/>
          <p:nvPr/>
        </p:nvSpPr>
        <p:spPr>
          <a:xfrm>
            <a:off x="8961120" y="3566160"/>
            <a:ext cx="320040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700" b="1">
                <a:solidFill>
                  <a:srgbClr val="F2F2EE"/>
                </a:solidFill>
                <a:latin typeface="Arial"/>
                <a:ea typeface="Arial"/>
                <a:cs typeface="Arial"/>
              </a:rPr>
              <a:t>КВАНТ</a:t>
            </a:r>
          </a:p>
        </p:txBody>
      </p:sp>
      <p:sp>
        <p:nvSpPr>
          <p:cNvPr id="16" name="lb"/>
          <p:cNvSpPr/>
          <p:nvPr/>
        </p:nvSpPr>
        <p:spPr>
          <a:xfrm>
            <a:off x="3904487" y="3017520"/>
            <a:ext cx="438912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4400" b="1">
                <a:solidFill>
                  <a:srgbClr val="A96BFF"/>
                </a:solidFill>
                <a:latin typeface="Arial"/>
                <a:ea typeface="Arial"/>
                <a:cs typeface="Arial"/>
              </a:rPr>
              <a:t>QARAU</a:t>
            </a:r>
          </a:p>
        </p:txBody>
      </p:sp>
      <p:sp>
        <p:nvSpPr>
          <p:cNvPr id="17" name="stages"/>
          <p:cNvSpPr/>
          <p:nvPr/>
        </p:nvSpPr>
        <p:spPr>
          <a:xfrm>
            <a:off x="3081528" y="4828031"/>
            <a:ext cx="603504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1800" b="1">
                <a:solidFill>
                  <a:srgbClr val="A5A5A2"/>
                </a:solidFill>
                <a:latin typeface="Arial"/>
                <a:ea typeface="Arial"/>
                <a:cs typeface="Arial"/>
              </a:rPr>
              <a:t>Discover · Collect · Validate · Deliver</a:t>
            </a:r>
          </a:p>
        </p:txBody>
      </p:sp>
      <p:sp>
        <p:nvSpPr>
          <p:cNvPr id="18" name="foot"/>
          <p:cNvSpPr/>
          <p:nvPr/>
        </p:nvSpPr>
        <p:spPr>
          <a:xfrm>
            <a:off x="822960" y="6053328"/>
            <a:ext cx="1042416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1900" b="1">
                <a:solidFill>
                  <a:srgbClr val="A5A5A2"/>
                </a:solidFill>
                <a:latin typeface="Arial"/>
                <a:ea typeface="Arial"/>
                <a:cs typeface="Arial"/>
              </a:rPr>
              <a:t>От источника до проверенного data product.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onogram-on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1944" y="658368"/>
            <a:ext cx="384048" cy="402336"/>
          </a:xfrm>
          <a:prstGeom prst="rect">
            <a:avLst/>
          </a:prstGeom>
        </p:spPr>
      </p:pic>
      <p:sp>
        <p:nvSpPr>
          <p:cNvPr id="3" name="eyebrow"/>
          <p:cNvSpPr/>
          <p:nvPr/>
        </p:nvSpPr>
        <p:spPr>
          <a:xfrm>
            <a:off x="822960" y="749808"/>
            <a:ext cx="365760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1100" b="1" spc="190">
                <a:solidFill>
                  <a:srgbClr val="6E6E6E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title"/>
          <p:cNvSpPr/>
          <p:nvPr/>
        </p:nvSpPr>
        <p:spPr>
          <a:xfrm>
            <a:off x="822960" y="1115568"/>
            <a:ext cx="10241280" cy="960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7400" b="1">
                <a:solidFill>
                  <a:srgbClr val="F2F2EE"/>
                </a:solidFill>
                <a:latin typeface="Arial"/>
                <a:ea typeface="Arial"/>
                <a:cs typeface="Arial"/>
              </a:rPr>
              <a:t>Живой MVP</a:t>
            </a:r>
          </a:p>
        </p:txBody>
      </p:sp>
      <p:sp>
        <p:nvSpPr>
          <p:cNvPr id="5" name="accent"/>
          <p:cNvSpPr/>
          <p:nvPr/>
        </p:nvSpPr>
        <p:spPr>
          <a:xfrm>
            <a:off x="822960" y="2359152"/>
            <a:ext cx="1188720" cy="0"/>
          </a:xfrm>
          <a:prstGeom prst="line">
            <a:avLst/>
          </a:prstGeom>
          <a:noFill/>
          <a:ln w="38100">
            <a:solidFill>
              <a:srgbClr val="A9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l-eyebrow"/>
          <p:cNvSpPr/>
          <p:nvPr/>
        </p:nvSpPr>
        <p:spPr>
          <a:xfrm>
            <a:off x="822960" y="2761488"/>
            <a:ext cx="4873752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1100" b="1" spc="190">
                <a:solidFill>
                  <a:srgbClr val="A96BFF"/>
                </a:solidFill>
                <a:latin typeface="Arial"/>
                <a:ea typeface="Arial"/>
                <a:cs typeface="Arial"/>
              </a:rPr>
              <a:t>ЖИВОЙ ИСТОЧНИК · РОТТЕРДАМ</a:t>
            </a:r>
          </a:p>
        </p:txBody>
      </p:sp>
      <p:pic>
        <p:nvPicPr>
          <p:cNvPr id="7" name="Picture 6" descr="sr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127248"/>
            <a:ext cx="4873752" cy="2747023"/>
          </a:xfrm>
          <a:prstGeom prst="rect">
            <a:avLst/>
          </a:prstGeom>
        </p:spPr>
      </p:pic>
      <p:sp>
        <p:nvSpPr>
          <p:cNvPr id="8" name="l-note"/>
          <p:cNvSpPr/>
          <p:nvPr/>
        </p:nvSpPr>
        <p:spPr>
          <a:xfrm>
            <a:off x="822960" y="5980176"/>
            <a:ext cx="5148072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1250" b="1">
                <a:solidFill>
                  <a:srgbClr val="6E6E6E"/>
                </a:solidFill>
                <a:latin typeface="Arial"/>
                <a:ea typeface="Arial"/>
                <a:cs typeface="Arial"/>
              </a:rPr>
              <a:t>1 097 дней · Open-Meteo · лаг доступности 5 дней</a:t>
            </a:r>
          </a:p>
        </p:txBody>
      </p:sp>
      <p:sp>
        <p:nvSpPr>
          <p:cNvPr id="9" name="r-eyebrow"/>
          <p:cNvSpPr/>
          <p:nvPr/>
        </p:nvSpPr>
        <p:spPr>
          <a:xfrm>
            <a:off x="6492240" y="2761488"/>
            <a:ext cx="4873752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1100" b="1" spc="190">
                <a:solidFill>
                  <a:srgbClr val="6E6E6E"/>
                </a:solidFill>
                <a:latin typeface="Arial"/>
                <a:ea typeface="Arial"/>
                <a:cs typeface="Arial"/>
              </a:rPr>
              <a:t>WALK-FORWARD · ΔR² vs EUR/USD</a:t>
            </a:r>
          </a:p>
        </p:txBody>
      </p:sp>
      <p:pic>
        <p:nvPicPr>
          <p:cNvPr id="10" name="Picture 9" descr="val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3127248"/>
            <a:ext cx="4873752" cy="2747023"/>
          </a:xfrm>
          <a:prstGeom prst="rect">
            <a:avLst/>
          </a:prstGeom>
        </p:spPr>
      </p:pic>
      <p:sp>
        <p:nvSpPr>
          <p:cNvPr id="11" name="r-note"/>
          <p:cNvSpPr/>
          <p:nvPr/>
        </p:nvSpPr>
        <p:spPr>
          <a:xfrm>
            <a:off x="6492240" y="5925312"/>
            <a:ext cx="5148072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126000"/>
              </a:lnSpc>
            </a:pPr>
            <a:r>
              <a:rPr sz="1900" b="1">
                <a:solidFill>
                  <a:srgbClr val="F2F2EE"/>
                </a:solidFill>
                <a:latin typeface="Arial"/>
                <a:ea typeface="Arial"/>
                <a:cs typeface="Arial"/>
              </a:rPr>
              <a:t>Связь держится вне обучения</a:t>
            </a:r>
          </a:p>
          <a:p>
            <a:pPr algn="l">
              <a:lnSpc>
                <a:spcPct val="126000"/>
              </a:lnSpc>
            </a:pPr>
            <a:r>
              <a:rPr sz="1900" b="1">
                <a:solidFill>
                  <a:srgbClr val="A96BFF"/>
                </a:solidFill>
                <a:latin typeface="Arial"/>
                <a:ea typeface="Arial"/>
                <a:cs typeface="Arial"/>
              </a:rPr>
              <a:t>только у одного кандидата.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onogram-on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1944" y="658368"/>
            <a:ext cx="384048" cy="402336"/>
          </a:xfrm>
          <a:prstGeom prst="rect">
            <a:avLst/>
          </a:prstGeom>
        </p:spPr>
      </p:pic>
      <p:sp>
        <p:nvSpPr>
          <p:cNvPr id="3" name="eyebrow"/>
          <p:cNvSpPr/>
          <p:nvPr/>
        </p:nvSpPr>
        <p:spPr>
          <a:xfrm>
            <a:off x="822960" y="749808"/>
            <a:ext cx="365760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1100" b="1" spc="190">
                <a:solidFill>
                  <a:srgbClr val="6E6E6E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title"/>
          <p:cNvSpPr/>
          <p:nvPr/>
        </p:nvSpPr>
        <p:spPr>
          <a:xfrm>
            <a:off x="822960" y="1115568"/>
            <a:ext cx="10241280" cy="960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7400" b="1">
                <a:solidFill>
                  <a:srgbClr val="F2F2EE"/>
                </a:solidFill>
                <a:latin typeface="Arial"/>
                <a:ea typeface="Arial"/>
                <a:cs typeface="Arial"/>
              </a:rPr>
              <a:t>Limited seats</a:t>
            </a:r>
          </a:p>
        </p:txBody>
      </p:sp>
      <p:sp>
        <p:nvSpPr>
          <p:cNvPr id="5" name="accent"/>
          <p:cNvSpPr/>
          <p:nvPr/>
        </p:nvSpPr>
        <p:spPr>
          <a:xfrm>
            <a:off x="822960" y="2359152"/>
            <a:ext cx="1188720" cy="0"/>
          </a:xfrm>
          <a:prstGeom prst="line">
            <a:avLst/>
          </a:prstGeom>
          <a:noFill/>
          <a:ln w="38100">
            <a:solidFill>
              <a:srgbClr val="A9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m-lead"/>
          <p:cNvSpPr/>
          <p:nvPr/>
        </p:nvSpPr>
        <p:spPr>
          <a:xfrm>
            <a:off x="822960" y="2944368"/>
            <a:ext cx="4937760" cy="12801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134000"/>
              </a:lnSpc>
            </a:pPr>
            <a:r>
              <a:rPr sz="2700" b="1">
                <a:solidFill>
                  <a:srgbClr val="F2F2EE"/>
                </a:solidFill>
                <a:latin typeface="Arial"/>
                <a:ea typeface="Arial"/>
                <a:cs typeface="Arial"/>
              </a:rPr>
              <a:t>Один источник — 6 мест.</a:t>
            </a:r>
          </a:p>
          <a:p>
            <a:pPr algn="l">
              <a:lnSpc>
                <a:spcPct val="134000"/>
              </a:lnSpc>
            </a:pPr>
            <a:r>
              <a:rPr sz="2700" b="1">
                <a:solidFill>
                  <a:srgbClr val="F2F2EE"/>
                </a:solidFill>
                <a:latin typeface="Arial"/>
                <a:ea typeface="Arial"/>
                <a:cs typeface="Arial"/>
              </a:rPr>
              <a:t>Места уходят с аукциона.</a:t>
            </a:r>
          </a:p>
        </p:txBody>
      </p:sp>
      <p:sp>
        <p:nvSpPr>
          <p:cNvPr id="7" name="seat0"/>
          <p:cNvSpPr/>
          <p:nvPr/>
        </p:nvSpPr>
        <p:spPr>
          <a:xfrm>
            <a:off x="841248" y="4782312"/>
            <a:ext cx="347472" cy="347472"/>
          </a:xfrm>
          <a:prstGeom prst="ellipse">
            <a:avLst/>
          </a:prstGeom>
          <a:solidFill>
            <a:srgbClr val="A9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eat1"/>
          <p:cNvSpPr/>
          <p:nvPr/>
        </p:nvSpPr>
        <p:spPr>
          <a:xfrm>
            <a:off x="1463040" y="4782312"/>
            <a:ext cx="347472" cy="347472"/>
          </a:xfrm>
          <a:prstGeom prst="ellipse">
            <a:avLst/>
          </a:prstGeom>
          <a:solidFill>
            <a:srgbClr val="A9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eat2"/>
          <p:cNvSpPr/>
          <p:nvPr/>
        </p:nvSpPr>
        <p:spPr>
          <a:xfrm>
            <a:off x="2084832" y="4782312"/>
            <a:ext cx="347472" cy="347472"/>
          </a:xfrm>
          <a:prstGeom prst="ellipse">
            <a:avLst/>
          </a:prstGeom>
          <a:solidFill>
            <a:srgbClr val="A9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eat3"/>
          <p:cNvSpPr/>
          <p:nvPr/>
        </p:nvSpPr>
        <p:spPr>
          <a:xfrm>
            <a:off x="2706624" y="4782312"/>
            <a:ext cx="347472" cy="347472"/>
          </a:xfrm>
          <a:prstGeom prst="ellipse">
            <a:avLst/>
          </a:prstGeom>
          <a:solidFill>
            <a:srgbClr val="A9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eat4"/>
          <p:cNvSpPr/>
          <p:nvPr/>
        </p:nvSpPr>
        <p:spPr>
          <a:xfrm>
            <a:off x="3328416" y="4782312"/>
            <a:ext cx="347472" cy="347472"/>
          </a:xfrm>
          <a:prstGeom prst="ellipse">
            <a:avLst/>
          </a:prstGeom>
          <a:noFill/>
          <a:ln w="19050">
            <a:solidFill>
              <a:srgbClr val="6E6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seat5"/>
          <p:cNvSpPr/>
          <p:nvPr/>
        </p:nvSpPr>
        <p:spPr>
          <a:xfrm>
            <a:off x="3950208" y="4782312"/>
            <a:ext cx="347472" cy="347472"/>
          </a:xfrm>
          <a:prstGeom prst="ellipse">
            <a:avLst/>
          </a:prstGeom>
          <a:noFill/>
          <a:ln w="19050">
            <a:solidFill>
              <a:srgbClr val="6E6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m-count"/>
          <p:cNvSpPr/>
          <p:nvPr/>
        </p:nvSpPr>
        <p:spPr>
          <a:xfrm>
            <a:off x="822960" y="5376672"/>
            <a:ext cx="49377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1250" b="1" spc="190">
                <a:solidFill>
                  <a:srgbClr val="6E6E6E"/>
                </a:solidFill>
                <a:latin typeface="Arial"/>
                <a:ea typeface="Arial"/>
                <a:cs typeface="Arial"/>
              </a:rPr>
              <a:t>4 / 6 ЗАНЯТО</a:t>
            </a:r>
          </a:p>
        </p:txBody>
      </p:sp>
      <p:sp>
        <p:nvSpPr>
          <p:cNvPr id="14" name="r-lead"/>
          <p:cNvSpPr/>
          <p:nvPr/>
        </p:nvSpPr>
        <p:spPr>
          <a:xfrm>
            <a:off x="6492240" y="2944368"/>
            <a:ext cx="4873752" cy="23774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134000"/>
              </a:lnSpc>
            </a:pPr>
            <a:r>
              <a:rPr sz="2700" b="1">
                <a:solidFill>
                  <a:srgbClr val="A5A5A2"/>
                </a:solidFill>
                <a:latin typeface="Arial"/>
                <a:ea typeface="Arial"/>
                <a:cs typeface="Arial"/>
              </a:rPr>
              <a:t>Чем ценнее сигнал,</a:t>
            </a:r>
          </a:p>
          <a:p>
            <a:pPr algn="l">
              <a:lnSpc>
                <a:spcPct val="134000"/>
              </a:lnSpc>
            </a:pPr>
            <a:r>
              <a:rPr sz="2700" b="1">
                <a:solidFill>
                  <a:srgbClr val="A5A5A2"/>
                </a:solidFill>
                <a:latin typeface="Arial"/>
                <a:ea typeface="Arial"/>
                <a:cs typeface="Arial"/>
              </a:rPr>
              <a:t>тем меньше мест</a:t>
            </a:r>
          </a:p>
          <a:p>
            <a:pPr algn="l">
              <a:lnSpc>
                <a:spcPct val="134000"/>
              </a:lnSpc>
            </a:pPr>
            <a:r>
              <a:rPr sz="2700" b="1">
                <a:solidFill>
                  <a:srgbClr val="F2F2EE"/>
                </a:solidFill>
                <a:latin typeface="Arial"/>
                <a:ea typeface="Arial"/>
                <a:cs typeface="Arial"/>
              </a:rPr>
              <a:t>и тем выше цена места.</a:t>
            </a:r>
          </a:p>
        </p:txBody>
      </p:sp>
      <p:sp>
        <p:nvSpPr>
          <p:cNvPr id="15" name="foot"/>
          <p:cNvSpPr/>
          <p:nvPr/>
        </p:nvSpPr>
        <p:spPr>
          <a:xfrm>
            <a:off x="822960" y="6053328"/>
            <a:ext cx="1042416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1900" b="1">
                <a:solidFill>
                  <a:srgbClr val="F2F2EE"/>
                </a:solidFill>
                <a:latin typeface="Arial"/>
                <a:ea typeface="Arial"/>
                <a:cs typeface="Arial"/>
              </a:rPr>
              <a:t>Мы продаём не данные, а ограниченное право доступа.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onogram-on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1944" y="658368"/>
            <a:ext cx="384048" cy="402336"/>
          </a:xfrm>
          <a:prstGeom prst="rect">
            <a:avLst/>
          </a:prstGeom>
        </p:spPr>
      </p:pic>
      <p:sp>
        <p:nvSpPr>
          <p:cNvPr id="3" name="eyebrow"/>
          <p:cNvSpPr/>
          <p:nvPr/>
        </p:nvSpPr>
        <p:spPr>
          <a:xfrm>
            <a:off x="822960" y="749808"/>
            <a:ext cx="365760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1100" b="1" spc="190">
                <a:solidFill>
                  <a:srgbClr val="6E6E6E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4" name="title"/>
          <p:cNvSpPr/>
          <p:nvPr/>
        </p:nvSpPr>
        <p:spPr>
          <a:xfrm>
            <a:off x="822960" y="1115568"/>
            <a:ext cx="10241280" cy="960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7400" b="1">
                <a:solidFill>
                  <a:srgbClr val="F2F2EE"/>
                </a:solidFill>
                <a:latin typeface="Arial"/>
                <a:ea typeface="Arial"/>
                <a:cs typeface="Arial"/>
              </a:rPr>
              <a:t>Why Solana</a:t>
            </a:r>
          </a:p>
        </p:txBody>
      </p:sp>
      <p:sp>
        <p:nvSpPr>
          <p:cNvPr id="5" name="accent"/>
          <p:cNvSpPr/>
          <p:nvPr/>
        </p:nvSpPr>
        <p:spPr>
          <a:xfrm>
            <a:off x="822960" y="2359152"/>
            <a:ext cx="1188720" cy="0"/>
          </a:xfrm>
          <a:prstGeom prst="line">
            <a:avLst/>
          </a:prstGeom>
          <a:noFill/>
          <a:ln w="38100">
            <a:solidFill>
              <a:srgbClr val="A9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etup"/>
          <p:cNvSpPr/>
          <p:nvPr/>
        </p:nvSpPr>
        <p:spPr>
          <a:xfrm>
            <a:off x="822960" y="2761488"/>
            <a:ext cx="1042416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2400" b="1">
                <a:solidFill>
                  <a:srgbClr val="A5A5A2"/>
                </a:solidFill>
                <a:latin typeface="Arial"/>
                <a:ea typeface="Arial"/>
                <a:cs typeface="Arial"/>
              </a:rPr>
              <a:t>QARAU нашёл shipping dataset с сильным сигналом по нефти.</a:t>
            </a:r>
          </a:p>
        </p:txBody>
      </p:sp>
      <p:sp>
        <p:nvSpPr>
          <p:cNvPr id="7" name="payoff"/>
          <p:cNvSpPr/>
          <p:nvPr/>
        </p:nvSpPr>
        <p:spPr>
          <a:xfrm>
            <a:off x="822960" y="3547872"/>
            <a:ext cx="10424160" cy="2011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130000"/>
              </a:lnSpc>
            </a:pPr>
            <a:r>
              <a:rPr sz="2700" b="1">
                <a:solidFill>
                  <a:srgbClr val="F2F2EE"/>
                </a:solidFill>
                <a:latin typeface="Arial"/>
                <a:ea typeface="Arial"/>
                <a:cs typeface="Arial"/>
              </a:rPr>
              <a:t>Вместо того чтобы продать его 100 клиентам</a:t>
            </a:r>
          </a:p>
          <a:p>
            <a:pPr algn="l">
              <a:lnSpc>
                <a:spcPct val="130000"/>
              </a:lnSpc>
            </a:pPr>
            <a:r>
              <a:rPr sz="2700" b="1">
                <a:solidFill>
                  <a:srgbClr val="F2F2EE"/>
                </a:solidFill>
                <a:latin typeface="Arial"/>
                <a:ea typeface="Arial"/>
                <a:cs typeface="Arial"/>
              </a:rPr>
              <a:t>и уничтожить эксклюзивность, QARAU создаёт</a:t>
            </a:r>
          </a:p>
          <a:p>
            <a:pPr algn="l">
              <a:lnSpc>
                <a:spcPct val="130000"/>
              </a:lnSpc>
            </a:pPr>
            <a:r>
              <a:rPr sz="2700" b="1">
                <a:solidFill>
                  <a:srgbClr val="A96BFF"/>
                </a:solidFill>
                <a:latin typeface="Arial"/>
                <a:ea typeface="Arial"/>
                <a:cs typeface="Arial"/>
              </a:rPr>
              <a:t>5 ограниченных access slots</a:t>
            </a:r>
          </a:p>
          <a:p>
            <a:pPr algn="l">
              <a:lnSpc>
                <a:spcPct val="130000"/>
              </a:lnSpc>
            </a:pPr>
            <a:r>
              <a:rPr sz="2700" b="1">
                <a:solidFill>
                  <a:srgbClr val="F2F2EE"/>
                </a:solidFill>
                <a:latin typeface="Arial"/>
                <a:ea typeface="Arial"/>
                <a:cs typeface="Arial"/>
              </a:rPr>
              <a:t>и продаёт их через аукцион.</a:t>
            </a:r>
          </a:p>
        </p:txBody>
      </p:sp>
      <p:sp>
        <p:nvSpPr>
          <p:cNvPr id="8" name="foot"/>
          <p:cNvSpPr/>
          <p:nvPr/>
        </p:nvSpPr>
        <p:spPr>
          <a:xfrm>
            <a:off x="822960" y="6053328"/>
            <a:ext cx="1042416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1900" b="1">
                <a:solidFill>
                  <a:srgbClr val="F2F2EE"/>
                </a:solidFill>
                <a:latin typeface="Arial"/>
                <a:ea typeface="Arial"/>
                <a:cs typeface="Arial"/>
              </a:rPr>
              <a:t>Solana превращает эти slots в проверяемое on-chain право.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onogram-on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1944" y="658368"/>
            <a:ext cx="384048" cy="402336"/>
          </a:xfrm>
          <a:prstGeom prst="rect">
            <a:avLst/>
          </a:prstGeom>
        </p:spPr>
      </p:pic>
      <p:sp>
        <p:nvSpPr>
          <p:cNvPr id="3" name="eyebrow"/>
          <p:cNvSpPr/>
          <p:nvPr/>
        </p:nvSpPr>
        <p:spPr>
          <a:xfrm>
            <a:off x="822960" y="749808"/>
            <a:ext cx="365760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1100" b="1" spc="190">
                <a:solidFill>
                  <a:srgbClr val="6E6E6E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4" name="title"/>
          <p:cNvSpPr/>
          <p:nvPr/>
        </p:nvSpPr>
        <p:spPr>
          <a:xfrm>
            <a:off x="822960" y="1115568"/>
            <a:ext cx="10241280" cy="960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7400" b="1">
                <a:solidFill>
                  <a:srgbClr val="F2F2EE"/>
                </a:solidFill>
                <a:latin typeface="Arial"/>
                <a:ea typeface="Arial"/>
                <a:cs typeface="Arial"/>
              </a:rPr>
              <a:t>Конкуренты</a:t>
            </a:r>
          </a:p>
        </p:txBody>
      </p:sp>
      <p:sp>
        <p:nvSpPr>
          <p:cNvPr id="5" name="accent"/>
          <p:cNvSpPr/>
          <p:nvPr/>
        </p:nvSpPr>
        <p:spPr>
          <a:xfrm>
            <a:off x="822960" y="2359152"/>
            <a:ext cx="1188720" cy="0"/>
          </a:xfrm>
          <a:prstGeom prst="line">
            <a:avLst/>
          </a:prstGeom>
          <a:noFill/>
          <a:ln w="38100">
            <a:solidFill>
              <a:srgbClr val="A9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axis"/>
          <p:cNvSpPr/>
          <p:nvPr/>
        </p:nvSpPr>
        <p:spPr>
          <a:xfrm>
            <a:off x="1188720" y="4160520"/>
            <a:ext cx="9875520" cy="0"/>
          </a:xfrm>
          <a:prstGeom prst="line">
            <a:avLst/>
          </a:prstGeom>
          <a:noFill/>
          <a:ln w="19050">
            <a:solidFill>
              <a:srgbClr val="2424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x-l"/>
          <p:cNvSpPr/>
          <p:nvPr/>
        </p:nvSpPr>
        <p:spPr>
          <a:xfrm rot="16200000">
            <a:off x="1028700" y="4091939"/>
            <a:ext cx="137160" cy="137160"/>
          </a:xfrm>
          <a:prstGeom prst="triangle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x-r"/>
          <p:cNvSpPr/>
          <p:nvPr/>
        </p:nvSpPr>
        <p:spPr>
          <a:xfrm rot="5400000">
            <a:off x="11087100" y="4091939"/>
            <a:ext cx="137160" cy="137160"/>
          </a:xfrm>
          <a:prstGeom prst="triangle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x-ll"/>
          <p:cNvSpPr/>
          <p:nvPr/>
        </p:nvSpPr>
        <p:spPr>
          <a:xfrm>
            <a:off x="822960" y="4544568"/>
            <a:ext cx="393192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1400" b="1">
                <a:solidFill>
                  <a:srgbClr val="6E6E6E"/>
                </a:solidFill>
                <a:latin typeface="Arial"/>
                <a:ea typeface="Arial"/>
                <a:cs typeface="Arial"/>
              </a:rPr>
              <a:t>Широкий охват данных</a:t>
            </a:r>
          </a:p>
        </p:txBody>
      </p:sp>
      <p:sp>
        <p:nvSpPr>
          <p:cNvPr id="10" name="ax-lr"/>
          <p:cNvSpPr/>
          <p:nvPr/>
        </p:nvSpPr>
        <p:spPr>
          <a:xfrm>
            <a:off x="6949440" y="4544568"/>
            <a:ext cx="4416552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r"/>
            <a:r>
              <a:rPr sz="1400" b="1">
                <a:solidFill>
                  <a:srgbClr val="6E6E6E"/>
                </a:solidFill>
                <a:latin typeface="Arial"/>
                <a:ea typeface="Arial"/>
                <a:cs typeface="Arial"/>
              </a:rPr>
              <a:t>Глубокая работа с physical data</a:t>
            </a:r>
          </a:p>
        </p:txBody>
      </p:sp>
      <p:sp>
        <p:nvSpPr>
          <p:cNvPr id="11" name="ax-neudata"/>
          <p:cNvSpPr/>
          <p:nvPr/>
        </p:nvSpPr>
        <p:spPr>
          <a:xfrm>
            <a:off x="1005840" y="3410711"/>
            <a:ext cx="3474720" cy="58521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2100" b="1">
                <a:solidFill>
                  <a:srgbClr val="8A8A8A"/>
                </a:solidFill>
                <a:latin typeface="Arial"/>
                <a:ea typeface="Arial"/>
                <a:cs typeface="Arial"/>
              </a:rPr>
              <a:t>Neudata</a:t>
            </a:r>
          </a:p>
        </p:txBody>
      </p:sp>
      <p:sp>
        <p:nvSpPr>
          <p:cNvPr id="12" name="ax-exabel"/>
          <p:cNvSpPr/>
          <p:nvPr/>
        </p:nvSpPr>
        <p:spPr>
          <a:xfrm>
            <a:off x="3703320" y="3410711"/>
            <a:ext cx="3474720" cy="58521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2100" b="1">
                <a:solidFill>
                  <a:srgbClr val="8A8A8A"/>
                </a:solidFill>
                <a:latin typeface="Arial"/>
                <a:ea typeface="Arial"/>
                <a:cs typeface="Arial"/>
              </a:rPr>
              <a:t>Exabel</a:t>
            </a:r>
          </a:p>
        </p:txBody>
      </p:sp>
      <p:sp>
        <p:nvSpPr>
          <p:cNvPr id="13" name="ax-qarau"/>
          <p:cNvSpPr/>
          <p:nvPr/>
        </p:nvSpPr>
        <p:spPr>
          <a:xfrm>
            <a:off x="7863840" y="3172968"/>
            <a:ext cx="3474720" cy="58521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  <a:r>
              <a:rPr sz="3800" b="1">
                <a:solidFill>
                  <a:srgbClr val="A96BFF"/>
                </a:solidFill>
                <a:latin typeface="Arial"/>
                <a:ea typeface="Arial"/>
                <a:cs typeface="Arial"/>
              </a:rPr>
              <a:t>QARAU</a:t>
            </a:r>
          </a:p>
        </p:txBody>
      </p:sp>
      <p:sp>
        <p:nvSpPr>
          <p:cNvPr id="14" name="dn"/>
          <p:cNvSpPr/>
          <p:nvPr/>
        </p:nvSpPr>
        <p:spPr>
          <a:xfrm>
            <a:off x="2656332" y="4073652"/>
            <a:ext cx="173736" cy="173736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e"/>
          <p:cNvSpPr/>
          <p:nvPr/>
        </p:nvSpPr>
        <p:spPr>
          <a:xfrm>
            <a:off x="5353812" y="4073652"/>
            <a:ext cx="173736" cy="173736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q"/>
          <p:cNvSpPr/>
          <p:nvPr/>
        </p:nvSpPr>
        <p:spPr>
          <a:xfrm>
            <a:off x="9409176" y="3968496"/>
            <a:ext cx="384048" cy="384048"/>
          </a:xfrm>
          <a:prstGeom prst="ellipse">
            <a:avLst/>
          </a:prstGeom>
          <a:noFill/>
          <a:ln w="28575">
            <a:solidFill>
              <a:srgbClr val="A9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q"/>
          <p:cNvSpPr/>
          <p:nvPr/>
        </p:nvSpPr>
        <p:spPr>
          <a:xfrm>
            <a:off x="9528048" y="4087368"/>
            <a:ext cx="146304" cy="146304"/>
          </a:xfrm>
          <a:prstGeom prst="ellipse">
            <a:avLst/>
          </a:prstGeom>
          <a:solidFill>
            <a:srgbClr val="A9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oot"/>
          <p:cNvSpPr/>
          <p:nvPr/>
        </p:nvSpPr>
        <p:spPr>
          <a:xfrm>
            <a:off x="822960" y="6053328"/>
            <a:ext cx="1042416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1900" b="1">
                <a:solidFill>
                  <a:srgbClr val="A5A5A2"/>
                </a:solidFill>
                <a:latin typeface="Arial"/>
                <a:ea typeface="Arial"/>
                <a:cs typeface="Arial"/>
              </a:rPr>
              <a:t>Узкий домен даёт специализированную validation.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onogram-on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1944" y="658368"/>
            <a:ext cx="384048" cy="402336"/>
          </a:xfrm>
          <a:prstGeom prst="rect">
            <a:avLst/>
          </a:prstGeom>
        </p:spPr>
      </p:pic>
      <p:sp>
        <p:nvSpPr>
          <p:cNvPr id="3" name="eyebrow"/>
          <p:cNvSpPr/>
          <p:nvPr/>
        </p:nvSpPr>
        <p:spPr>
          <a:xfrm>
            <a:off x="822960" y="749808"/>
            <a:ext cx="365760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1100" b="1" spc="190">
                <a:solidFill>
                  <a:srgbClr val="6E6E6E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title"/>
          <p:cNvSpPr/>
          <p:nvPr/>
        </p:nvSpPr>
        <p:spPr>
          <a:xfrm>
            <a:off x="822960" y="1115568"/>
            <a:ext cx="10241280" cy="960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7400" b="1">
                <a:solidFill>
                  <a:srgbClr val="F2F2EE"/>
                </a:solidFill>
                <a:latin typeface="Arial"/>
                <a:ea typeface="Arial"/>
                <a:cs typeface="Arial"/>
              </a:rPr>
              <a:t>Первый покупатель</a:t>
            </a:r>
          </a:p>
        </p:txBody>
      </p:sp>
      <p:sp>
        <p:nvSpPr>
          <p:cNvPr id="5" name="accent"/>
          <p:cNvSpPr/>
          <p:nvPr/>
        </p:nvSpPr>
        <p:spPr>
          <a:xfrm>
            <a:off x="822960" y="2359152"/>
            <a:ext cx="1188720" cy="0"/>
          </a:xfrm>
          <a:prstGeom prst="line">
            <a:avLst/>
          </a:prstGeom>
          <a:noFill/>
          <a:ln w="38100">
            <a:solidFill>
              <a:srgbClr val="A9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agTAM"/>
          <p:cNvSpPr/>
          <p:nvPr/>
        </p:nvSpPr>
        <p:spPr>
          <a:xfrm>
            <a:off x="822960" y="2761488"/>
            <a:ext cx="420624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1250" b="1" spc="190">
                <a:solidFill>
                  <a:srgbClr val="6E6E6E"/>
                </a:solidFill>
                <a:latin typeface="Arial"/>
                <a:ea typeface="Arial"/>
                <a:cs typeface="Arial"/>
              </a:rPr>
              <a:t>TAM</a:t>
            </a:r>
          </a:p>
        </p:txBody>
      </p:sp>
      <p:sp>
        <p:nvSpPr>
          <p:cNvPr id="7" name="bodTAM"/>
          <p:cNvSpPr/>
          <p:nvPr/>
        </p:nvSpPr>
        <p:spPr>
          <a:xfrm>
            <a:off x="822960" y="3072384"/>
            <a:ext cx="4754880" cy="4206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2400" b="1">
                <a:solidFill>
                  <a:srgbClr val="8A8A8A"/>
                </a:solidFill>
                <a:latin typeface="Arial"/>
                <a:ea typeface="Arial"/>
                <a:cs typeface="Arial"/>
              </a:rPr>
              <a:t>$2.8 млрд alternative data</a:t>
            </a:r>
          </a:p>
        </p:txBody>
      </p:sp>
      <p:sp>
        <p:nvSpPr>
          <p:cNvPr id="8" name="tagSAM"/>
          <p:cNvSpPr/>
          <p:nvPr/>
        </p:nvSpPr>
        <p:spPr>
          <a:xfrm>
            <a:off x="1188720" y="3730752"/>
            <a:ext cx="420624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1250" b="1" spc="190">
                <a:solidFill>
                  <a:srgbClr val="6E6E6E"/>
                </a:solidFill>
                <a:latin typeface="Arial"/>
                <a:ea typeface="Arial"/>
                <a:cs typeface="Arial"/>
              </a:rPr>
              <a:t>SAM</a:t>
            </a:r>
          </a:p>
        </p:txBody>
      </p:sp>
      <p:sp>
        <p:nvSpPr>
          <p:cNvPr id="9" name="bodSAM"/>
          <p:cNvSpPr/>
          <p:nvPr/>
        </p:nvSpPr>
        <p:spPr>
          <a:xfrm>
            <a:off x="1188720" y="4041648"/>
            <a:ext cx="4754880" cy="4206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2400" b="1">
                <a:solidFill>
                  <a:srgbClr val="F2F2EE"/>
                </a:solidFill>
                <a:latin typeface="Arial"/>
                <a:ea typeface="Arial"/>
                <a:cs typeface="Arial"/>
              </a:rPr>
              <a:t>Physical-data для quant</a:t>
            </a:r>
          </a:p>
        </p:txBody>
      </p:sp>
      <p:sp>
        <p:nvSpPr>
          <p:cNvPr id="10" name="tagSOM"/>
          <p:cNvSpPr/>
          <p:nvPr/>
        </p:nvSpPr>
        <p:spPr>
          <a:xfrm>
            <a:off x="1554480" y="4700016"/>
            <a:ext cx="420624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1250" b="1" spc="190">
                <a:solidFill>
                  <a:srgbClr val="A96BFF"/>
                </a:solidFill>
                <a:latin typeface="Arial"/>
                <a:ea typeface="Arial"/>
                <a:cs typeface="Arial"/>
              </a:rPr>
              <a:t>SOM</a:t>
            </a:r>
          </a:p>
        </p:txBody>
      </p:sp>
      <p:sp>
        <p:nvSpPr>
          <p:cNvPr id="11" name="bodSOM"/>
          <p:cNvSpPr/>
          <p:nvPr/>
        </p:nvSpPr>
        <p:spPr>
          <a:xfrm>
            <a:off x="1554480" y="5010912"/>
            <a:ext cx="4754880" cy="4206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2400" b="1">
                <a:solidFill>
                  <a:srgbClr val="A96BFF"/>
                </a:solidFill>
                <a:latin typeface="Arial"/>
                <a:ea typeface="Arial"/>
                <a:cs typeface="Arial"/>
              </a:rPr>
              <a:t>Закрытые data products</a:t>
            </a:r>
          </a:p>
        </p:txBody>
      </p:sp>
      <p:sp>
        <p:nvSpPr>
          <p:cNvPr id="12" name="bh-eyebrow"/>
          <p:cNvSpPr/>
          <p:nvPr/>
        </p:nvSpPr>
        <p:spPr>
          <a:xfrm>
            <a:off x="6492240" y="2761488"/>
            <a:ext cx="4873752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1100" b="1" spc="190">
                <a:solidFill>
                  <a:srgbClr val="6E6E6E"/>
                </a:solidFill>
                <a:latin typeface="Arial"/>
                <a:ea typeface="Arial"/>
                <a:cs typeface="Arial"/>
              </a:rPr>
              <a:t>ПЕРВЫЕ ПОКУПАТЕЛИ</a:t>
            </a:r>
          </a:p>
        </p:txBody>
      </p:sp>
      <p:sp>
        <p:nvSpPr>
          <p:cNvPr id="13" name="bh-list"/>
          <p:cNvSpPr/>
          <p:nvPr/>
        </p:nvSpPr>
        <p:spPr>
          <a:xfrm>
            <a:off x="6492240" y="3255264"/>
            <a:ext cx="4873752" cy="2103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146000"/>
              </a:lnSpc>
            </a:pPr>
            <a:r>
              <a:rPr sz="2700" b="1">
                <a:solidFill>
                  <a:srgbClr val="F2F2EE"/>
                </a:solidFill>
                <a:latin typeface="Arial"/>
                <a:ea typeface="Arial"/>
                <a:cs typeface="Arial"/>
              </a:rPr>
              <a:t>Commodity funds</a:t>
            </a:r>
          </a:p>
          <a:p>
            <a:pPr algn="l">
              <a:lnSpc>
                <a:spcPct val="146000"/>
              </a:lnSpc>
            </a:pPr>
            <a:r>
              <a:rPr sz="2700" b="1">
                <a:solidFill>
                  <a:srgbClr val="F2F2EE"/>
                </a:solidFill>
                <a:latin typeface="Arial"/>
                <a:ea typeface="Arial"/>
                <a:cs typeface="Arial"/>
              </a:rPr>
              <a:t>Systematic desks</a:t>
            </a:r>
          </a:p>
          <a:p>
            <a:pPr algn="l">
              <a:lnSpc>
                <a:spcPct val="146000"/>
              </a:lnSpc>
            </a:pPr>
            <a:r>
              <a:rPr sz="2700" b="1">
                <a:solidFill>
                  <a:srgbClr val="F2F2EE"/>
                </a:solidFill>
                <a:latin typeface="Arial"/>
                <a:ea typeface="Arial"/>
                <a:cs typeface="Arial"/>
              </a:rPr>
              <a:t>Proprietary trading firms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822960" y="2834640"/>
            <a:ext cx="1188720" cy="0"/>
          </a:xfrm>
          <a:prstGeom prst="line">
            <a:avLst/>
          </a:prstGeom>
          <a:noFill/>
          <a:ln w="38100">
            <a:solidFill>
              <a:srgbClr val="A9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eat"/>
          <p:cNvSpPr/>
          <p:nvPr/>
        </p:nvSpPr>
        <p:spPr>
          <a:xfrm>
            <a:off x="822960" y="3218688"/>
            <a:ext cx="10515600" cy="11155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118000"/>
              </a:lnSpc>
            </a:pPr>
            <a:r>
              <a:rPr sz="6200" b="1">
                <a:solidFill>
                  <a:srgbClr val="F2F2EE"/>
                </a:solidFill>
                <a:latin typeface="Arial"/>
                <a:ea typeface="Arial"/>
                <a:cs typeface="Arial"/>
              </a:rPr>
              <a:t>Почему мы?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onogram-on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1944" y="658368"/>
            <a:ext cx="384048" cy="402336"/>
          </a:xfrm>
          <a:prstGeom prst="rect">
            <a:avLst/>
          </a:prstGeom>
        </p:spPr>
      </p:pic>
      <p:sp>
        <p:nvSpPr>
          <p:cNvPr id="3" name="eyebrow"/>
          <p:cNvSpPr/>
          <p:nvPr/>
        </p:nvSpPr>
        <p:spPr>
          <a:xfrm>
            <a:off x="822960" y="749808"/>
            <a:ext cx="365760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1100" b="1" spc="190">
                <a:solidFill>
                  <a:srgbClr val="6E6E6E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" name="title"/>
          <p:cNvSpPr/>
          <p:nvPr/>
        </p:nvSpPr>
        <p:spPr>
          <a:xfrm>
            <a:off x="822960" y="1115568"/>
            <a:ext cx="10241280" cy="960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7400" b="1">
                <a:solidFill>
                  <a:srgbClr val="F2F2EE"/>
                </a:solidFill>
                <a:latin typeface="Arial"/>
                <a:ea typeface="Arial"/>
                <a:cs typeface="Arial"/>
              </a:rPr>
              <a:t>Команда</a:t>
            </a:r>
          </a:p>
        </p:txBody>
      </p:sp>
      <p:sp>
        <p:nvSpPr>
          <p:cNvPr id="5" name="accent"/>
          <p:cNvSpPr/>
          <p:nvPr/>
        </p:nvSpPr>
        <p:spPr>
          <a:xfrm>
            <a:off x="822960" y="2359152"/>
            <a:ext cx="1188720" cy="0"/>
          </a:xfrm>
          <a:prstGeom prst="line">
            <a:avLst/>
          </a:prstGeom>
          <a:noFill/>
          <a:ln w="38100">
            <a:solidFill>
              <a:srgbClr val="A9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n-Tamerlan"/>
          <p:cNvSpPr/>
          <p:nvPr/>
        </p:nvSpPr>
        <p:spPr>
          <a:xfrm>
            <a:off x="822960" y="2761488"/>
            <a:ext cx="4873752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2500" b="1">
                <a:solidFill>
                  <a:srgbClr val="F2F2EE"/>
                </a:solidFill>
                <a:latin typeface="Arial"/>
                <a:ea typeface="Arial"/>
                <a:cs typeface="Arial"/>
              </a:rPr>
              <a:t>Tamerlan Omralinov</a:t>
            </a:r>
          </a:p>
        </p:txBody>
      </p:sp>
      <p:sp>
        <p:nvSpPr>
          <p:cNvPr id="7" name="r-Tamerlan"/>
          <p:cNvSpPr/>
          <p:nvPr/>
        </p:nvSpPr>
        <p:spPr>
          <a:xfrm>
            <a:off x="822960" y="3218688"/>
            <a:ext cx="4873752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1250" b="1" spc="190">
                <a:solidFill>
                  <a:srgbClr val="A96BFF"/>
                </a:solidFill>
                <a:latin typeface="Arial"/>
                <a:ea typeface="Arial"/>
                <a:cs typeface="Arial"/>
              </a:rPr>
              <a:t>Engineering &amp; AI</a:t>
            </a:r>
          </a:p>
        </p:txBody>
      </p:sp>
      <p:sp>
        <p:nvSpPr>
          <p:cNvPr id="8" name="b-Tamerlan"/>
          <p:cNvSpPr/>
          <p:nvPr/>
        </p:nvSpPr>
        <p:spPr>
          <a:xfrm>
            <a:off x="822960" y="3712464"/>
            <a:ext cx="4873752" cy="1554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152000"/>
              </a:lnSpc>
            </a:pPr>
            <a:r>
              <a:rPr sz="1600" b="1">
                <a:solidFill>
                  <a:srgbClr val="A5A5A2"/>
                </a:solidFill>
                <a:latin typeface="Arial"/>
                <a:ea typeface="Arial"/>
                <a:cs typeface="Arial"/>
              </a:rPr>
              <a:t>Kaggle Expert</a:t>
            </a:r>
          </a:p>
          <a:p>
            <a:pPr algn="l">
              <a:lnSpc>
                <a:spcPct val="152000"/>
              </a:lnSpc>
            </a:pPr>
            <a:r>
              <a:rPr sz="1600" b="1">
                <a:solidFill>
                  <a:srgbClr val="A5A5A2"/>
                </a:solidFill>
                <a:latin typeface="Arial"/>
                <a:ea typeface="Arial"/>
                <a:cs typeface="Arial"/>
              </a:rPr>
              <a:t>Built production AI/data systems</a:t>
            </a:r>
          </a:p>
          <a:p>
            <a:pPr algn="l">
              <a:lnSpc>
                <a:spcPct val="152000"/>
              </a:lnSpc>
            </a:pPr>
            <a:r>
              <a:rPr sz="1600" b="1">
                <a:solidFill>
                  <a:srgbClr val="A5A5A2"/>
                </a:solidFill>
                <a:latin typeface="Arial"/>
                <a:ea typeface="Arial"/>
                <a:cs typeface="Arial"/>
              </a:rPr>
              <a:t>Experience with noisy real-world data</a:t>
            </a:r>
          </a:p>
        </p:txBody>
      </p:sp>
      <p:sp>
        <p:nvSpPr>
          <p:cNvPr id="9" name="n-Sohum"/>
          <p:cNvSpPr/>
          <p:nvPr/>
        </p:nvSpPr>
        <p:spPr>
          <a:xfrm>
            <a:off x="6492240" y="2761488"/>
            <a:ext cx="4873752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2500" b="1">
                <a:solidFill>
                  <a:srgbClr val="F2F2EE"/>
                </a:solidFill>
                <a:latin typeface="Arial"/>
                <a:ea typeface="Arial"/>
                <a:cs typeface="Arial"/>
              </a:rPr>
              <a:t>Sohum Muley</a:t>
            </a:r>
          </a:p>
        </p:txBody>
      </p:sp>
      <p:sp>
        <p:nvSpPr>
          <p:cNvPr id="10" name="r-Sohum"/>
          <p:cNvSpPr/>
          <p:nvPr/>
        </p:nvSpPr>
        <p:spPr>
          <a:xfrm>
            <a:off x="6492240" y="3218688"/>
            <a:ext cx="4873752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1250" b="1" spc="190">
                <a:solidFill>
                  <a:srgbClr val="A96BFF"/>
                </a:solidFill>
                <a:latin typeface="Arial"/>
                <a:ea typeface="Arial"/>
                <a:cs typeface="Arial"/>
              </a:rPr>
              <a:t>Quantitative Research</a:t>
            </a:r>
          </a:p>
        </p:txBody>
      </p:sp>
      <p:sp>
        <p:nvSpPr>
          <p:cNvPr id="11" name="b-Sohum"/>
          <p:cNvSpPr/>
          <p:nvPr/>
        </p:nvSpPr>
        <p:spPr>
          <a:xfrm>
            <a:off x="6492240" y="3712464"/>
            <a:ext cx="4873752" cy="1554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152000"/>
              </a:lnSpc>
            </a:pPr>
            <a:r>
              <a:rPr sz="1600" b="1">
                <a:solidFill>
                  <a:srgbClr val="A5A5A2"/>
                </a:solidFill>
                <a:latin typeface="Arial"/>
                <a:ea typeface="Arial"/>
                <a:cs typeface="Arial"/>
              </a:rPr>
              <a:t>Quant Research · BITS Pilani</a:t>
            </a:r>
          </a:p>
          <a:p>
            <a:pPr algn="l">
              <a:lnSpc>
                <a:spcPct val="152000"/>
              </a:lnSpc>
            </a:pPr>
            <a:r>
              <a:rPr sz="1600" b="1">
                <a:solidFill>
                  <a:srgbClr val="A5A5A2"/>
                </a:solidFill>
                <a:latin typeface="Arial"/>
                <a:ea typeface="Arial"/>
                <a:cs typeface="Arial"/>
              </a:rPr>
              <a:t>Built and tested real trading strategies</a:t>
            </a:r>
          </a:p>
          <a:p>
            <a:pPr algn="l">
              <a:lnSpc>
                <a:spcPct val="152000"/>
              </a:lnSpc>
            </a:pPr>
            <a:r>
              <a:rPr sz="1600" b="1">
                <a:solidFill>
                  <a:srgbClr val="A5A5A2"/>
                </a:solidFill>
                <a:latin typeface="Arial"/>
                <a:ea typeface="Arial"/>
                <a:cs typeface="Arial"/>
              </a:rPr>
              <a:t>HFT data · alpha research · backtesting</a:t>
            </a:r>
          </a:p>
        </p:txBody>
      </p:sp>
      <p:sp>
        <p:nvSpPr>
          <p:cNvPr id="12" name="foot"/>
          <p:cNvSpPr/>
          <p:nvPr/>
        </p:nvSpPr>
        <p:spPr>
          <a:xfrm>
            <a:off x="822960" y="6053328"/>
            <a:ext cx="1042416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1900" b="1">
                <a:solidFill>
                  <a:srgbClr val="F2F2EE"/>
                </a:solidFill>
                <a:latin typeface="Arial"/>
                <a:ea typeface="Arial"/>
                <a:cs typeface="Arial"/>
              </a:rPr>
              <a:t>Colosseum: запустить закрытый MVP и подключить первых quant buyers.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