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Титул. Ничего не комментировать — дать прочитать название и одну строку.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одно определение, справа одна цельная линия. Не разбивать линию на карточки.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Вся статистика — один metric-блок. Справа смысл цифры, а не вторая цифра.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колонка — один цельный блок слов. Пример «перегрузка порта → задержка поставок» проговорить устно, на слайд не выносить.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из 15 честнее процента на такой выборке. Два объекта: формула и цифра.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схема на слайд. Никакой архитектуры backend и отдельных блоков AI / API /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Оба объекта — настоящий вывод MVP на живых данных.</a:t>
            </a:r>
          </a:p>
          <a:p/>
          <a:p>
            <a:r>
              <a:t>Слева: Open-Meteo historical archive, суточные осадки у порта Роттердам, 1 097 записей за 3 года, с принудительной задержкой доступности 5 дней (защита от look-ahead).</a:t>
            </a:r>
          </a:p>
          <a:p/>
          <a:p>
            <a:r>
              <a:t>Справа: walk-forward валидация против EUR/USD (ECB). Ridge-линейная baseline против модели с добавленным физическим признаком, три out-of-sample окна.</a:t>
            </a:r>
          </a:p>
          <a:p>
            <a:r>
              <a:t>Роттердам: ΔR² = +0.32%, все три окна положительные, предупреждений нет, evidence 56/100.</a:t>
            </a:r>
          </a:p>
          <a:p>
            <a:r>
              <a:t>Хьюстон: ΔR² = −0.52%, положительное одно окно из трёх, UNSTABLE_ACROSS_FOLDS, 43/100.</a:t>
            </a:r>
          </a:p>
          <a:p/>
          <a:p>
            <a:r>
              <a:t>Главное: один и тот же пайплайн одного кандидата принимает, другого отклоняет.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Kayrros и Ursa Space назвать устно — как потенциальных поставщиков данных и партнёров.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концентрических кругов и случайных процентов: TAM/SAM/SOM — одна вертикальная конструкция.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должен вынести судья: данные остаются закрытыми, а дефицитный доступ распределяется через Solana. Кошельки, токены, ноды и валидаторы на слайд не выносить.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заканчивается здесь: команда, определение QARAU и конкретный ask. Слайда Thank you нет.</a:t>
            </a:r>
          </a:p>
          <a:p/>
          <a:p>
            <a:r>
              <a:t>Фотографий участников в проекте нет, поэтому они не подставлены — место слева над именами свободно.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cept-00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pic>
        <p:nvPicPr>
          <p:cNvPr id="3" name="Picture 2" descr="primary-lockup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64" y="2304288"/>
            <a:ext cx="6035040" cy="958291"/>
          </a:xfrm>
          <a:prstGeom prst="rect">
            <a:avLst/>
          </a:prstGeom>
        </p:spPr>
      </p:pic>
      <p:sp>
        <p:nvSpPr>
          <p:cNvPr id="4" name="one-liner"/>
          <p:cNvSpPr/>
          <p:nvPr/>
        </p:nvSpPr>
        <p:spPr>
          <a:xfrm>
            <a:off x="914400" y="4041648"/>
            <a:ext cx="1036015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A5A5A2"/>
                </a:solidFill>
                <a:latin typeface="Arial"/>
                <a:ea typeface="Arial"/>
                <a:cs typeface="Arial"/>
              </a:rPr>
              <a:t>Находим и проверяем данные реального мира для торговых алгоритмов.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1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Кванты превращают данные</a:t>
            </a:r>
          </a:p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в торговые решения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finition"/>
          <p:cNvSpPr/>
          <p:nvPr/>
        </p:nvSpPr>
        <p:spPr>
          <a:xfrm>
            <a:off x="685800" y="3063240"/>
            <a:ext cx="4617720" cy="1554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Ищут закономерности в данных — статистикой, алгоритмами и AI.</a:t>
            </a:r>
          </a:p>
        </p:txBody>
      </p:sp>
      <p:sp>
        <p:nvSpPr>
          <p:cNvPr id="8" name="flow-1"/>
          <p:cNvSpPr/>
          <p:nvPr/>
        </p:nvSpPr>
        <p:spPr>
          <a:xfrm>
            <a:off x="7059168" y="3703320"/>
            <a:ext cx="1755648" cy="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-1-head"/>
          <p:cNvSpPr/>
          <p:nvPr/>
        </p:nvSpPr>
        <p:spPr>
          <a:xfrm rot="5400000">
            <a:off x="8810244" y="3657600"/>
            <a:ext cx="91440" cy="91440"/>
          </a:xfrm>
          <a:prstGeom prst="triangle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-2"/>
          <p:cNvSpPr/>
          <p:nvPr/>
        </p:nvSpPr>
        <p:spPr>
          <a:xfrm>
            <a:off x="9208008" y="3703320"/>
            <a:ext cx="1755647" cy="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ow-2-head"/>
          <p:cNvSpPr/>
          <p:nvPr/>
        </p:nvSpPr>
        <p:spPr>
          <a:xfrm rot="5400000">
            <a:off x="10959084" y="3657600"/>
            <a:ext cx="91440" cy="91440"/>
          </a:xfrm>
          <a:prstGeom prst="triangle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-1"/>
          <p:cNvSpPr/>
          <p:nvPr/>
        </p:nvSpPr>
        <p:spPr>
          <a:xfrm>
            <a:off x="6816852" y="3616451"/>
            <a:ext cx="173736" cy="173736"/>
          </a:xfrm>
          <a:prstGeom prst="ellipse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-2"/>
          <p:cNvSpPr/>
          <p:nvPr/>
        </p:nvSpPr>
        <p:spPr>
          <a:xfrm>
            <a:off x="8965692" y="3616451"/>
            <a:ext cx="173736" cy="173736"/>
          </a:xfrm>
          <a:prstGeom prst="ellipse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ode-3"/>
          <p:cNvSpPr/>
          <p:nvPr/>
        </p:nvSpPr>
        <p:spPr>
          <a:xfrm>
            <a:off x="11087100" y="3589020"/>
            <a:ext cx="228600" cy="228600"/>
          </a:xfrm>
          <a:prstGeom prst="ellips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ow-a"/>
          <p:cNvSpPr/>
          <p:nvPr/>
        </p:nvSpPr>
        <p:spPr>
          <a:xfrm>
            <a:off x="5760720" y="4069080"/>
            <a:ext cx="228600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7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6" name="flow-b"/>
          <p:cNvSpPr/>
          <p:nvPr/>
        </p:nvSpPr>
        <p:spPr>
          <a:xfrm>
            <a:off x="7909560" y="4069080"/>
            <a:ext cx="228600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7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17" name="flow-c"/>
          <p:cNvSpPr/>
          <p:nvPr/>
        </p:nvSpPr>
        <p:spPr>
          <a:xfrm>
            <a:off x="10058400" y="4069080"/>
            <a:ext cx="228600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7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СДЕЛКА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2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Фонды платят за данные,</a:t>
            </a:r>
          </a:p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которых нет у остальных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"/>
          <p:cNvSpPr/>
          <p:nvPr/>
        </p:nvSpPr>
        <p:spPr>
          <a:xfrm>
            <a:off x="685800" y="2724912"/>
            <a:ext cx="6537959" cy="1783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4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$2.8 млрд</a:t>
            </a:r>
          </a:p>
        </p:txBody>
      </p:sp>
      <p:sp>
        <p:nvSpPr>
          <p:cNvPr id="8" name="metric-cap"/>
          <p:cNvSpPr/>
          <p:nvPr/>
        </p:nvSpPr>
        <p:spPr>
          <a:xfrm>
            <a:off x="685800" y="4590288"/>
            <a:ext cx="603504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800" b="1">
                <a:solidFill>
                  <a:srgbClr val="A5A5A2"/>
                </a:solidFill>
                <a:latin typeface="Arial"/>
                <a:ea typeface="Arial"/>
                <a:cs typeface="Arial"/>
              </a:rPr>
              <a:t>Расходы фондов на alternative data, 2025</a:t>
            </a:r>
          </a:p>
        </p:txBody>
      </p:sp>
      <p:sp>
        <p:nvSpPr>
          <p:cNvPr id="9" name="metric-delta"/>
          <p:cNvSpPr/>
          <p:nvPr/>
        </p:nvSpPr>
        <p:spPr>
          <a:xfrm>
            <a:off x="685800" y="5120640"/>
            <a:ext cx="38404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0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+17% за год</a:t>
            </a:r>
          </a:p>
        </p:txBody>
      </p:sp>
      <p:sp>
        <p:nvSpPr>
          <p:cNvPr id="10" name="divider"/>
          <p:cNvSpPr/>
          <p:nvPr/>
        </p:nvSpPr>
        <p:spPr>
          <a:xfrm>
            <a:off x="7452360" y="2697480"/>
            <a:ext cx="0" cy="274320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aning"/>
          <p:cNvSpPr/>
          <p:nvPr/>
        </p:nvSpPr>
        <p:spPr>
          <a:xfrm>
            <a:off x="8046720" y="3017520"/>
            <a:ext cx="3456432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Уникальные данные показывают изменения раньше рынка.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3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0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Традиционные данные доступны всем.</a:t>
            </a:r>
          </a:p>
          <a:p>
            <a:pPr algn="l">
              <a:lnSpc>
                <a:spcPct val="114000"/>
              </a:lnSpc>
            </a:pPr>
            <a:r>
              <a:rPr sz="40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Физический мир — почти нет.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vider"/>
          <p:cNvSpPr/>
          <p:nvPr/>
        </p:nvSpPr>
        <p:spPr>
          <a:xfrm>
            <a:off x="5760720" y="2743200"/>
            <a:ext cx="0" cy="292608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-eyebrow"/>
          <p:cNvSpPr/>
          <p:nvPr/>
        </p:nvSpPr>
        <p:spPr>
          <a:xfrm>
            <a:off x="685800" y="2761488"/>
            <a:ext cx="4206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TRADITIONAL DATA</a:t>
            </a:r>
          </a:p>
        </p:txBody>
      </p:sp>
      <p:sp>
        <p:nvSpPr>
          <p:cNvPr id="9" name="l-list"/>
          <p:cNvSpPr/>
          <p:nvPr/>
        </p:nvSpPr>
        <p:spPr>
          <a:xfrm>
            <a:off x="685800" y="3310128"/>
            <a:ext cx="4663440" cy="1920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44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Цены</a:t>
            </a:r>
          </a:p>
          <a:p>
            <a:pPr algn="l">
              <a:lnSpc>
                <a:spcPct val="144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Финансовая отчётность</a:t>
            </a:r>
          </a:p>
          <a:p>
            <a:pPr algn="l">
              <a:lnSpc>
                <a:spcPct val="144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Новости</a:t>
            </a:r>
          </a:p>
        </p:txBody>
      </p:sp>
      <p:sp>
        <p:nvSpPr>
          <p:cNvPr id="10" name="l-verdict"/>
          <p:cNvSpPr/>
          <p:nvPr/>
        </p:nvSpPr>
        <p:spPr>
          <a:xfrm>
            <a:off x="685800" y="5358384"/>
            <a:ext cx="42062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7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Widely available</a:t>
            </a:r>
          </a:p>
        </p:txBody>
      </p:sp>
      <p:sp>
        <p:nvSpPr>
          <p:cNvPr id="11" name="r-eyebrow"/>
          <p:cNvSpPr/>
          <p:nvPr/>
        </p:nvSpPr>
        <p:spPr>
          <a:xfrm>
            <a:off x="6446520" y="2761488"/>
            <a:ext cx="4206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PHYSICAL DATA</a:t>
            </a:r>
          </a:p>
        </p:txBody>
      </p:sp>
      <p:sp>
        <p:nvSpPr>
          <p:cNvPr id="12" name="r-list"/>
          <p:cNvSpPr/>
          <p:nvPr/>
        </p:nvSpPr>
        <p:spPr>
          <a:xfrm>
            <a:off x="6446520" y="3310128"/>
            <a:ext cx="4846320" cy="1920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44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Движение судов</a:t>
            </a:r>
          </a:p>
          <a:p>
            <a:pPr algn="l">
              <a:lnSpc>
                <a:spcPct val="144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Работа заводов</a:t>
            </a:r>
          </a:p>
          <a:p>
            <a:pPr algn="l">
              <a:lnSpc>
                <a:spcPct val="144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Энергопотребление</a:t>
            </a:r>
          </a:p>
        </p:txBody>
      </p:sp>
      <p:sp>
        <p:nvSpPr>
          <p:cNvPr id="13" name="r-verdict"/>
          <p:cNvSpPr/>
          <p:nvPr/>
        </p:nvSpPr>
        <p:spPr>
          <a:xfrm>
            <a:off x="6446520" y="5358384"/>
            <a:ext cx="42062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7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Underused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4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Physical data ещё не означает</a:t>
            </a:r>
          </a:p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trading signal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rmula"/>
          <p:cNvSpPr/>
          <p:nvPr/>
        </p:nvSpPr>
        <p:spPr>
          <a:xfrm>
            <a:off x="685800" y="3017520"/>
            <a:ext cx="5852159" cy="1011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9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DATA ≠ SIGNAL</a:t>
            </a:r>
          </a:p>
        </p:txBody>
      </p:sp>
      <p:sp>
        <p:nvSpPr>
          <p:cNvPr id="8" name="formula-sub"/>
          <p:cNvSpPr/>
          <p:nvPr/>
        </p:nvSpPr>
        <p:spPr>
          <a:xfrm>
            <a:off x="685800" y="4498848"/>
            <a:ext cx="58521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8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Noise · Bias · Regime changes</a:t>
            </a:r>
          </a:p>
        </p:txBody>
      </p:sp>
      <p:sp>
        <p:nvSpPr>
          <p:cNvPr id="9" name="divider"/>
          <p:cNvSpPr/>
          <p:nvPr/>
        </p:nvSpPr>
        <p:spPr>
          <a:xfrm>
            <a:off x="6720840" y="2697480"/>
            <a:ext cx="0" cy="283464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"/>
          <p:cNvSpPr/>
          <p:nvPr/>
        </p:nvSpPr>
        <p:spPr>
          <a:xfrm>
            <a:off x="7315200" y="2798064"/>
            <a:ext cx="4251959" cy="22459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1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11/15</a:t>
            </a:r>
          </a:p>
        </p:txBody>
      </p:sp>
      <p:sp>
        <p:nvSpPr>
          <p:cNvPr id="11" name="stat-cap"/>
          <p:cNvSpPr/>
          <p:nvPr/>
        </p:nvSpPr>
        <p:spPr>
          <a:xfrm>
            <a:off x="7315200" y="4718304"/>
            <a:ext cx="41879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назвали устойчивость сигнала главной проблемой</a:t>
            </a:r>
          </a:p>
        </p:txBody>
      </p:sp>
      <p:sp>
        <p:nvSpPr>
          <p:cNvPr id="12" name="stat-n"/>
          <p:cNvSpPr/>
          <p:nvPr/>
        </p:nvSpPr>
        <p:spPr>
          <a:xfrm>
            <a:off x="7315200" y="5632704"/>
            <a:ext cx="418795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n = 15 quant researchers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5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QARAU проверяет данные</a:t>
            </a:r>
          </a:p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до того, как их получит квант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pe-1"/>
          <p:cNvSpPr/>
          <p:nvPr/>
        </p:nvSpPr>
        <p:spPr>
          <a:xfrm>
            <a:off x="1874520" y="4434840"/>
            <a:ext cx="3849624" cy="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pe-1-head"/>
          <p:cNvSpPr/>
          <p:nvPr/>
        </p:nvSpPr>
        <p:spPr>
          <a:xfrm rot="5400000">
            <a:off x="5719572" y="4389120"/>
            <a:ext cx="91440" cy="91440"/>
          </a:xfrm>
          <a:prstGeom prst="triangle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pe-2"/>
          <p:cNvSpPr/>
          <p:nvPr/>
        </p:nvSpPr>
        <p:spPr>
          <a:xfrm>
            <a:off x="6391656" y="4434840"/>
            <a:ext cx="3995928" cy="0"/>
          </a:xfrm>
          <a:prstGeom prst="line">
            <a:avLst/>
          </a:prstGeom>
          <a:noFill/>
          <a:ln w="1905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pe-2-head"/>
          <p:cNvSpPr/>
          <p:nvPr/>
        </p:nvSpPr>
        <p:spPr>
          <a:xfrm rot="5400000">
            <a:off x="10383011" y="4389120"/>
            <a:ext cx="91440" cy="91440"/>
          </a:xfrm>
          <a:prstGeom prst="triangl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-a"/>
          <p:cNvSpPr/>
          <p:nvPr/>
        </p:nvSpPr>
        <p:spPr>
          <a:xfrm>
            <a:off x="1604772" y="4347972"/>
            <a:ext cx="173736" cy="173736"/>
          </a:xfrm>
          <a:prstGeom prst="ellipse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-c"/>
          <p:cNvSpPr/>
          <p:nvPr/>
        </p:nvSpPr>
        <p:spPr>
          <a:xfrm>
            <a:off x="10657332" y="4347972"/>
            <a:ext cx="173736" cy="173736"/>
          </a:xfrm>
          <a:prstGeom prst="ellipse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-b-ring"/>
          <p:cNvSpPr/>
          <p:nvPr/>
        </p:nvSpPr>
        <p:spPr>
          <a:xfrm>
            <a:off x="5925312" y="4261103"/>
            <a:ext cx="347472" cy="347472"/>
          </a:xfrm>
          <a:prstGeom prst="ellipse">
            <a:avLst/>
          </a:prstGeom>
          <a:noFill/>
          <a:ln w="28575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ode-b"/>
          <p:cNvSpPr/>
          <p:nvPr/>
        </p:nvSpPr>
        <p:spPr>
          <a:xfrm>
            <a:off x="6030468" y="4366259"/>
            <a:ext cx="137160" cy="137160"/>
          </a:xfrm>
          <a:prstGeom prst="ellips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b-a"/>
          <p:cNvSpPr/>
          <p:nvPr/>
        </p:nvSpPr>
        <p:spPr>
          <a:xfrm>
            <a:off x="137160" y="3721607"/>
            <a:ext cx="31089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8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PHYSICAL WORLD</a:t>
            </a:r>
          </a:p>
        </p:txBody>
      </p:sp>
      <p:sp>
        <p:nvSpPr>
          <p:cNvPr id="16" name="lab-c"/>
          <p:cNvSpPr/>
          <p:nvPr/>
        </p:nvSpPr>
        <p:spPr>
          <a:xfrm>
            <a:off x="9189720" y="3721607"/>
            <a:ext cx="31089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8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QUANT</a:t>
            </a:r>
          </a:p>
        </p:txBody>
      </p:sp>
      <p:sp>
        <p:nvSpPr>
          <p:cNvPr id="17" name="lab-b"/>
          <p:cNvSpPr/>
          <p:nvPr/>
        </p:nvSpPr>
        <p:spPr>
          <a:xfrm>
            <a:off x="3904487" y="3227831"/>
            <a:ext cx="438912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40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QARAU</a:t>
            </a:r>
          </a:p>
        </p:txBody>
      </p:sp>
      <p:sp>
        <p:nvSpPr>
          <p:cNvPr id="18" name="stages"/>
          <p:cNvSpPr/>
          <p:nvPr/>
        </p:nvSpPr>
        <p:spPr>
          <a:xfrm>
            <a:off x="3172968" y="4928616"/>
            <a:ext cx="58521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8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Discover · Collect · Validate · Deliver</a:t>
            </a:r>
          </a:p>
        </p:txBody>
      </p:sp>
      <p:sp>
        <p:nvSpPr>
          <p:cNvPr id="19" name="takeaway"/>
          <p:cNvSpPr/>
          <p:nvPr/>
        </p:nvSpPr>
        <p:spPr>
          <a:xfrm>
            <a:off x="685800" y="6108192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От источника до проверенного data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6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38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От источника до измеренного результата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-eyebrow"/>
          <p:cNvSpPr/>
          <p:nvPr/>
        </p:nvSpPr>
        <p:spPr>
          <a:xfrm>
            <a:off x="685800" y="2615184"/>
            <a:ext cx="50292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LIVE SOURCE · ROTTERDAM</a:t>
            </a:r>
          </a:p>
        </p:txBody>
      </p:sp>
      <p:pic>
        <p:nvPicPr>
          <p:cNvPr id="8" name="Picture 7" descr="sr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62656"/>
            <a:ext cx="5029200" cy="2834640"/>
          </a:xfrm>
          <a:prstGeom prst="rect">
            <a:avLst/>
          </a:prstGeom>
        </p:spPr>
      </p:pic>
      <p:sp>
        <p:nvSpPr>
          <p:cNvPr id="9" name="l-note"/>
          <p:cNvSpPr/>
          <p:nvPr/>
        </p:nvSpPr>
        <p:spPr>
          <a:xfrm>
            <a:off x="685800" y="5925312"/>
            <a:ext cx="5120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1 097 дней · Open-Meteo · лаг доступности 5 дней</a:t>
            </a:r>
          </a:p>
        </p:txBody>
      </p:sp>
      <p:sp>
        <p:nvSpPr>
          <p:cNvPr id="10" name="r-eyebrow"/>
          <p:cNvSpPr/>
          <p:nvPr/>
        </p:nvSpPr>
        <p:spPr>
          <a:xfrm>
            <a:off x="6473952" y="2615184"/>
            <a:ext cx="50292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WALK-FORWARD · ΔR² vs EUR/USD</a:t>
            </a:r>
          </a:p>
        </p:txBody>
      </p:sp>
      <p:pic>
        <p:nvPicPr>
          <p:cNvPr id="11" name="Picture 10" descr="va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962656"/>
            <a:ext cx="5029200" cy="2834640"/>
          </a:xfrm>
          <a:prstGeom prst="rect">
            <a:avLst/>
          </a:prstGeom>
        </p:spPr>
      </p:pic>
      <p:sp>
        <p:nvSpPr>
          <p:cNvPr id="12" name="r-conclusion"/>
          <p:cNvSpPr/>
          <p:nvPr/>
        </p:nvSpPr>
        <p:spPr>
          <a:xfrm>
            <a:off x="6473952" y="5815584"/>
            <a:ext cx="5120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6000"/>
              </a:lnSpc>
            </a:pPr>
            <a:r>
              <a:rPr sz="20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Связь держится вне обучения</a:t>
            </a:r>
          </a:p>
          <a:p>
            <a:pPr algn="l">
              <a:lnSpc>
                <a:spcPct val="126000"/>
              </a:lnSpc>
            </a:pPr>
            <a:r>
              <a:rPr sz="20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только у одного кандидата.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7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Глубина специализации,</a:t>
            </a:r>
          </a:p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а не количество функций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xis"/>
          <p:cNvSpPr/>
          <p:nvPr/>
        </p:nvSpPr>
        <p:spPr>
          <a:xfrm>
            <a:off x="1097280" y="4251960"/>
            <a:ext cx="9985248" cy="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xis-l"/>
          <p:cNvSpPr/>
          <p:nvPr/>
        </p:nvSpPr>
        <p:spPr>
          <a:xfrm rot="16200000">
            <a:off x="937260" y="4183380"/>
            <a:ext cx="137160" cy="137160"/>
          </a:xfrm>
          <a:prstGeom prst="triangle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xis-r"/>
          <p:cNvSpPr/>
          <p:nvPr/>
        </p:nvSpPr>
        <p:spPr>
          <a:xfrm rot="5400000">
            <a:off x="11105388" y="4183380"/>
            <a:ext cx="137160" cy="137160"/>
          </a:xfrm>
          <a:prstGeom prst="triangle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xis-lab-l"/>
          <p:cNvSpPr/>
          <p:nvPr/>
        </p:nvSpPr>
        <p:spPr>
          <a:xfrm>
            <a:off x="685800" y="4617720"/>
            <a:ext cx="3840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Широкий охват данных</a:t>
            </a:r>
          </a:p>
        </p:txBody>
      </p:sp>
      <p:sp>
        <p:nvSpPr>
          <p:cNvPr id="11" name="axis-lab-r"/>
          <p:cNvSpPr/>
          <p:nvPr/>
        </p:nvSpPr>
        <p:spPr>
          <a:xfrm>
            <a:off x="6949440" y="4617720"/>
            <a:ext cx="45537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5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Глубокая работа с physical data</a:t>
            </a:r>
          </a:p>
        </p:txBody>
      </p:sp>
      <p:sp>
        <p:nvSpPr>
          <p:cNvPr id="12" name="axis-neudata"/>
          <p:cNvSpPr/>
          <p:nvPr/>
        </p:nvSpPr>
        <p:spPr>
          <a:xfrm>
            <a:off x="914400" y="3520440"/>
            <a:ext cx="347472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Neudata</a:t>
            </a:r>
          </a:p>
        </p:txBody>
      </p:sp>
      <p:sp>
        <p:nvSpPr>
          <p:cNvPr id="13" name="axis-exabel"/>
          <p:cNvSpPr/>
          <p:nvPr/>
        </p:nvSpPr>
        <p:spPr>
          <a:xfrm>
            <a:off x="3611879" y="3520440"/>
            <a:ext cx="347472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Exabel</a:t>
            </a:r>
          </a:p>
        </p:txBody>
      </p:sp>
      <p:sp>
        <p:nvSpPr>
          <p:cNvPr id="14" name="axis-qarau"/>
          <p:cNvSpPr/>
          <p:nvPr/>
        </p:nvSpPr>
        <p:spPr>
          <a:xfrm>
            <a:off x="7863840" y="3300984"/>
            <a:ext cx="347472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36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QARAU</a:t>
            </a:r>
          </a:p>
        </p:txBody>
      </p:sp>
      <p:sp>
        <p:nvSpPr>
          <p:cNvPr id="15" name="dot-neudata"/>
          <p:cNvSpPr/>
          <p:nvPr/>
        </p:nvSpPr>
        <p:spPr>
          <a:xfrm>
            <a:off x="2564891" y="4165092"/>
            <a:ext cx="173736" cy="173736"/>
          </a:xfrm>
          <a:prstGeom prst="ellipse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exabel"/>
          <p:cNvSpPr/>
          <p:nvPr/>
        </p:nvSpPr>
        <p:spPr>
          <a:xfrm>
            <a:off x="5262372" y="4165092"/>
            <a:ext cx="173736" cy="173736"/>
          </a:xfrm>
          <a:prstGeom prst="ellipse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ng-qarau"/>
          <p:cNvSpPr/>
          <p:nvPr/>
        </p:nvSpPr>
        <p:spPr>
          <a:xfrm>
            <a:off x="9427464" y="4078224"/>
            <a:ext cx="347472" cy="347472"/>
          </a:xfrm>
          <a:prstGeom prst="ellipse">
            <a:avLst/>
          </a:prstGeom>
          <a:noFill/>
          <a:ln w="28575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-qarau"/>
          <p:cNvSpPr/>
          <p:nvPr/>
        </p:nvSpPr>
        <p:spPr>
          <a:xfrm>
            <a:off x="9532620" y="4183380"/>
            <a:ext cx="137160" cy="137160"/>
          </a:xfrm>
          <a:prstGeom prst="ellips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/>
          <p:nvPr/>
        </p:nvSpPr>
        <p:spPr>
          <a:xfrm>
            <a:off x="685800" y="6108192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Узкий домен даёт специализированную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8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Начинаем с профессиональных</a:t>
            </a:r>
          </a:p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quant-команд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vider"/>
          <p:cNvSpPr/>
          <p:nvPr/>
        </p:nvSpPr>
        <p:spPr>
          <a:xfrm>
            <a:off x="5760720" y="2743200"/>
            <a:ext cx="0" cy="292608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pine"/>
          <p:cNvSpPr/>
          <p:nvPr/>
        </p:nvSpPr>
        <p:spPr>
          <a:xfrm>
            <a:off x="758952" y="2834640"/>
            <a:ext cx="0" cy="256032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ck-TAM"/>
          <p:cNvSpPr/>
          <p:nvPr/>
        </p:nvSpPr>
        <p:spPr>
          <a:xfrm>
            <a:off x="758952" y="2971800"/>
            <a:ext cx="219456" cy="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-TAM"/>
          <p:cNvSpPr/>
          <p:nvPr/>
        </p:nvSpPr>
        <p:spPr>
          <a:xfrm>
            <a:off x="1115568" y="2834640"/>
            <a:ext cx="4206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11" name="body-TAM"/>
          <p:cNvSpPr/>
          <p:nvPr/>
        </p:nvSpPr>
        <p:spPr>
          <a:xfrm>
            <a:off x="1115568" y="3145536"/>
            <a:ext cx="420624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2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$2.8 млрд alternative data</a:t>
            </a:r>
          </a:p>
        </p:txBody>
      </p:sp>
      <p:sp>
        <p:nvSpPr>
          <p:cNvPr id="12" name="tick-SAM"/>
          <p:cNvSpPr/>
          <p:nvPr/>
        </p:nvSpPr>
        <p:spPr>
          <a:xfrm>
            <a:off x="758952" y="3840480"/>
            <a:ext cx="548640" cy="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-SAM"/>
          <p:cNvSpPr/>
          <p:nvPr/>
        </p:nvSpPr>
        <p:spPr>
          <a:xfrm>
            <a:off x="1444752" y="3703320"/>
            <a:ext cx="3931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4" name="body-SAM"/>
          <p:cNvSpPr/>
          <p:nvPr/>
        </p:nvSpPr>
        <p:spPr>
          <a:xfrm>
            <a:off x="1444752" y="4014215"/>
            <a:ext cx="39319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2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Physical-data для quant</a:t>
            </a:r>
          </a:p>
        </p:txBody>
      </p:sp>
      <p:sp>
        <p:nvSpPr>
          <p:cNvPr id="15" name="tick-SOM"/>
          <p:cNvSpPr/>
          <p:nvPr/>
        </p:nvSpPr>
        <p:spPr>
          <a:xfrm>
            <a:off x="758952" y="4709160"/>
            <a:ext cx="877824" cy="0"/>
          </a:xfrm>
          <a:prstGeom prst="line">
            <a:avLst/>
          </a:prstGeom>
          <a:noFill/>
          <a:ln w="190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g-SOM"/>
          <p:cNvSpPr/>
          <p:nvPr/>
        </p:nvSpPr>
        <p:spPr>
          <a:xfrm>
            <a:off x="1773936" y="4572000"/>
            <a:ext cx="3840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SOM</a:t>
            </a:r>
          </a:p>
        </p:txBody>
      </p:sp>
      <p:sp>
        <p:nvSpPr>
          <p:cNvPr id="17" name="body-SOM"/>
          <p:cNvSpPr/>
          <p:nvPr/>
        </p:nvSpPr>
        <p:spPr>
          <a:xfrm>
            <a:off x="1773936" y="4882896"/>
            <a:ext cx="384048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2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Закрытые data products</a:t>
            </a:r>
          </a:p>
        </p:txBody>
      </p:sp>
      <p:sp>
        <p:nvSpPr>
          <p:cNvPr id="18" name="bh-eyebrow"/>
          <p:cNvSpPr/>
          <p:nvPr/>
        </p:nvSpPr>
        <p:spPr>
          <a:xfrm>
            <a:off x="6446520" y="2834640"/>
            <a:ext cx="4846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BEACHHEAD</a:t>
            </a:r>
          </a:p>
        </p:txBody>
      </p:sp>
      <p:sp>
        <p:nvSpPr>
          <p:cNvPr id="19" name="bh-list"/>
          <p:cNvSpPr/>
          <p:nvPr/>
        </p:nvSpPr>
        <p:spPr>
          <a:xfrm>
            <a:off x="6446520" y="3383280"/>
            <a:ext cx="484632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46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Commodity funds</a:t>
            </a:r>
          </a:p>
          <a:p>
            <a:pPr algn="l">
              <a:lnSpc>
                <a:spcPct val="146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Systematic desks</a:t>
            </a:r>
          </a:p>
          <a:p>
            <a:pPr algn="l">
              <a:lnSpc>
                <a:spcPct val="146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Proprietary trading firms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09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Сигнал продаётся ограниченному</a:t>
            </a:r>
          </a:p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числу покупателей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vider"/>
          <p:cNvSpPr/>
          <p:nvPr/>
        </p:nvSpPr>
        <p:spPr>
          <a:xfrm>
            <a:off x="5760720" y="2743200"/>
            <a:ext cx="0" cy="292608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ats"/>
          <p:cNvSpPr/>
          <p:nvPr/>
        </p:nvSpPr>
        <p:spPr>
          <a:xfrm>
            <a:off x="685800" y="2798064"/>
            <a:ext cx="4800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48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LIMITED SEATS</a:t>
            </a:r>
          </a:p>
        </p:txBody>
      </p:sp>
      <p:sp>
        <p:nvSpPr>
          <p:cNvPr id="9" name="seats-sub"/>
          <p:cNvSpPr/>
          <p:nvPr/>
        </p:nvSpPr>
        <p:spPr>
          <a:xfrm>
            <a:off x="685800" y="3822191"/>
            <a:ext cx="502920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Доступ распределяется через auction</a:t>
            </a:r>
          </a:p>
        </p:txBody>
      </p:sp>
      <p:sp>
        <p:nvSpPr>
          <p:cNvPr id="10" name="seat-0"/>
          <p:cNvSpPr/>
          <p:nvPr/>
        </p:nvSpPr>
        <p:spPr>
          <a:xfrm>
            <a:off x="704087" y="4672584"/>
            <a:ext cx="310896" cy="310896"/>
          </a:xfrm>
          <a:prstGeom prst="ellips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at-1"/>
          <p:cNvSpPr/>
          <p:nvPr/>
        </p:nvSpPr>
        <p:spPr>
          <a:xfrm>
            <a:off x="1271016" y="4672584"/>
            <a:ext cx="310896" cy="310896"/>
          </a:xfrm>
          <a:prstGeom prst="ellips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at-2"/>
          <p:cNvSpPr/>
          <p:nvPr/>
        </p:nvSpPr>
        <p:spPr>
          <a:xfrm>
            <a:off x="1837943" y="4672584"/>
            <a:ext cx="310896" cy="310896"/>
          </a:xfrm>
          <a:prstGeom prst="ellips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at-3"/>
          <p:cNvSpPr/>
          <p:nvPr/>
        </p:nvSpPr>
        <p:spPr>
          <a:xfrm>
            <a:off x="2404872" y="4672584"/>
            <a:ext cx="310896" cy="310896"/>
          </a:xfrm>
          <a:prstGeom prst="ellipse">
            <a:avLst/>
          </a:prstGeom>
          <a:solidFill>
            <a:srgbClr val="00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at-4"/>
          <p:cNvSpPr/>
          <p:nvPr/>
        </p:nvSpPr>
        <p:spPr>
          <a:xfrm>
            <a:off x="2971800" y="4672584"/>
            <a:ext cx="310896" cy="310896"/>
          </a:xfrm>
          <a:prstGeom prst="ellipse">
            <a:avLst/>
          </a:prstGeom>
          <a:noFill/>
          <a:ln w="19050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at-5"/>
          <p:cNvSpPr/>
          <p:nvPr/>
        </p:nvSpPr>
        <p:spPr>
          <a:xfrm>
            <a:off x="3538728" y="4672584"/>
            <a:ext cx="310896" cy="310896"/>
          </a:xfrm>
          <a:prstGeom prst="ellipse">
            <a:avLst/>
          </a:prstGeom>
          <a:noFill/>
          <a:ln w="19050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ats-count"/>
          <p:cNvSpPr/>
          <p:nvPr/>
        </p:nvSpPr>
        <p:spPr>
          <a:xfrm>
            <a:off x="685800" y="5212080"/>
            <a:ext cx="4754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4 / 6 ЗАНЯТО</a:t>
            </a:r>
          </a:p>
        </p:txBody>
      </p:sp>
      <p:sp>
        <p:nvSpPr>
          <p:cNvPr id="17" name="off"/>
          <p:cNvSpPr/>
          <p:nvPr/>
        </p:nvSpPr>
        <p:spPr>
          <a:xfrm>
            <a:off x="6446520" y="3310128"/>
            <a:ext cx="505663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Private data — off-chain</a:t>
            </a:r>
          </a:p>
        </p:txBody>
      </p:sp>
      <p:sp>
        <p:nvSpPr>
          <p:cNvPr id="18" name="chain-div"/>
          <p:cNvSpPr/>
          <p:nvPr/>
        </p:nvSpPr>
        <p:spPr>
          <a:xfrm>
            <a:off x="6446520" y="4133087"/>
            <a:ext cx="2743200" cy="0"/>
          </a:xfrm>
          <a:prstGeom prst="line">
            <a:avLst/>
          </a:prstGeom>
          <a:noFill/>
          <a:ln w="1905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n"/>
          <p:cNvSpPr/>
          <p:nvPr/>
        </p:nvSpPr>
        <p:spPr>
          <a:xfrm>
            <a:off x="6446520" y="4407408"/>
            <a:ext cx="505663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8000"/>
              </a:lnSpc>
            </a:pPr>
            <a:r>
              <a:rPr sz="2600" b="1">
                <a:solidFill>
                  <a:srgbClr val="00B8F0"/>
                </a:solidFill>
                <a:latin typeface="Arial"/>
                <a:ea typeface="Arial"/>
                <a:cs typeface="Arial"/>
              </a:rPr>
              <a:t>Allocation и access rights — on Solana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ogram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57200"/>
            <a:ext cx="384048" cy="402336"/>
          </a:xfrm>
          <a:prstGeom prst="rect">
            <a:avLst/>
          </a:prstGeom>
        </p:spPr>
      </p:pic>
      <p:sp>
        <p:nvSpPr>
          <p:cNvPr id="3" name="concept-10"/>
          <p:cNvSpPr/>
          <p:nvPr/>
        </p:nvSpPr>
        <p:spPr>
          <a:xfrm>
            <a:off x="10881360" y="6547104"/>
            <a:ext cx="667512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67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itle"/>
          <p:cNvSpPr/>
          <p:nvPr/>
        </p:nvSpPr>
        <p:spPr>
          <a:xfrm>
            <a:off x="685800" y="676656"/>
            <a:ext cx="10058400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4000"/>
              </a:lnSpc>
            </a:pPr>
            <a:r>
              <a:rPr sz="4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Engineering × Quant Research</a:t>
            </a:r>
          </a:p>
        </p:txBody>
      </p:sp>
      <p:sp>
        <p:nvSpPr>
          <p:cNvPr id="5" name="mast-hair"/>
          <p:cNvSpPr/>
          <p:nvPr/>
        </p:nvSpPr>
        <p:spPr>
          <a:xfrm>
            <a:off x="685800" y="2359152"/>
            <a:ext cx="10817352" cy="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st-lead"/>
          <p:cNvSpPr/>
          <p:nvPr/>
        </p:nvSpPr>
        <p:spPr>
          <a:xfrm>
            <a:off x="685800" y="2359152"/>
            <a:ext cx="1188720" cy="0"/>
          </a:xfrm>
          <a:prstGeom prst="line">
            <a:avLst/>
          </a:prstGeom>
          <a:noFill/>
          <a:ln w="38100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vider"/>
          <p:cNvSpPr/>
          <p:nvPr/>
        </p:nvSpPr>
        <p:spPr>
          <a:xfrm>
            <a:off x="5760720" y="2743200"/>
            <a:ext cx="0" cy="2926080"/>
          </a:xfrm>
          <a:prstGeom prst="line">
            <a:avLst/>
          </a:prstGeom>
          <a:noFill/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m-bind"/>
          <p:cNvSpPr/>
          <p:nvPr/>
        </p:nvSpPr>
        <p:spPr>
          <a:xfrm>
            <a:off x="685800" y="3529584"/>
            <a:ext cx="4663440" cy="0"/>
          </a:xfrm>
          <a:prstGeom prst="line">
            <a:avLst/>
          </a:prstGeom>
          <a:noFill/>
          <a:ln w="28575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me-Tamerlan"/>
          <p:cNvSpPr/>
          <p:nvPr/>
        </p:nvSpPr>
        <p:spPr>
          <a:xfrm>
            <a:off x="685800" y="3803904"/>
            <a:ext cx="246888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9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Tamerlan Omralinov</a:t>
            </a:r>
          </a:p>
        </p:txBody>
      </p:sp>
      <p:sp>
        <p:nvSpPr>
          <p:cNvPr id="10" name="role-Tamerlan"/>
          <p:cNvSpPr/>
          <p:nvPr/>
        </p:nvSpPr>
        <p:spPr>
          <a:xfrm>
            <a:off x="685800" y="4206240"/>
            <a:ext cx="23774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8000"/>
              </a:lnSpc>
            </a:pPr>
            <a:r>
              <a:rPr sz="1300" b="1">
                <a:solidFill>
                  <a:srgbClr val="A5A5A2"/>
                </a:solidFill>
                <a:latin typeface="Arial"/>
                <a:ea typeface="Arial"/>
                <a:cs typeface="Arial"/>
              </a:rPr>
              <a:t>Engineering, AI and data systems</a:t>
            </a:r>
          </a:p>
        </p:txBody>
      </p:sp>
      <p:sp>
        <p:nvSpPr>
          <p:cNvPr id="11" name="name-Sohum"/>
          <p:cNvSpPr/>
          <p:nvPr/>
        </p:nvSpPr>
        <p:spPr>
          <a:xfrm>
            <a:off x="3154680" y="3803904"/>
            <a:ext cx="246888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9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Sohum Muley</a:t>
            </a:r>
          </a:p>
        </p:txBody>
      </p:sp>
      <p:sp>
        <p:nvSpPr>
          <p:cNvPr id="12" name="role-Sohum"/>
          <p:cNvSpPr/>
          <p:nvPr/>
        </p:nvSpPr>
        <p:spPr>
          <a:xfrm>
            <a:off x="3154680" y="4206240"/>
            <a:ext cx="23774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8000"/>
              </a:lnSpc>
            </a:pPr>
            <a:r>
              <a:rPr sz="1300" b="1">
                <a:solidFill>
                  <a:srgbClr val="A5A5A2"/>
                </a:solidFill>
                <a:latin typeface="Arial"/>
                <a:ea typeface="Arial"/>
                <a:cs typeface="Arial"/>
              </a:rPr>
              <a:t>Co-founder, Quantitative Research</a:t>
            </a:r>
          </a:p>
        </p:txBody>
      </p:sp>
      <p:sp>
        <p:nvSpPr>
          <p:cNvPr id="13" name="closing"/>
          <p:cNvSpPr/>
          <p:nvPr/>
        </p:nvSpPr>
        <p:spPr>
          <a:xfrm>
            <a:off x="6446520" y="2889504"/>
            <a:ext cx="5056632" cy="1554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QARAU — слой проверки между физическим миром и трейдингом.</a:t>
            </a:r>
          </a:p>
        </p:txBody>
      </p:sp>
      <p:sp>
        <p:nvSpPr>
          <p:cNvPr id="14" name="ask-rule"/>
          <p:cNvSpPr/>
          <p:nvPr/>
        </p:nvSpPr>
        <p:spPr>
          <a:xfrm>
            <a:off x="6446520" y="4882896"/>
            <a:ext cx="914400" cy="0"/>
          </a:xfrm>
          <a:prstGeom prst="line">
            <a:avLst/>
          </a:prstGeom>
          <a:noFill/>
          <a:ln w="28575">
            <a:solidFill>
              <a:srgbClr val="00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sk"/>
          <p:cNvSpPr/>
          <p:nvPr/>
        </p:nvSpPr>
        <p:spPr>
          <a:xfrm>
            <a:off x="6446520" y="5138928"/>
            <a:ext cx="505663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2F2EE"/>
                </a:solidFill>
                <a:latin typeface="Arial"/>
                <a:ea typeface="Arial"/>
                <a:cs typeface="Arial"/>
              </a:rPr>
              <a:t>Colosseum: запустить закрытый MVP и подключить первых quant buyers.</a:t>
            </a:r>
          </a:p>
        </p:txBody>
      </p:sp>
      <p:sp>
        <p:nvSpPr>
          <p:cNvPr id="16" name="solana"/>
          <p:cNvSpPr/>
          <p:nvPr/>
        </p:nvSpPr>
        <p:spPr>
          <a:xfrm>
            <a:off x="685800" y="6163055"/>
            <a:ext cx="46634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A5A5A2"/>
                </a:solidFill>
                <a:latin typeface="Arial"/>
                <a:ea typeface="Arial"/>
                <a:cs typeface="Arial"/>
              </a:rPr>
              <a:t>Building on Solana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